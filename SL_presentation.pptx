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5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CE59DF59-D41A-460B-A569-021E34BBB12E}">
          <p14:sldIdLst>
            <p14:sldId id="256"/>
            <p14:sldId id="257"/>
            <p14:sldId id="258"/>
            <p14:sldId id="259"/>
            <p14:sldId id="260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5"/>
            <p14:sldId id="274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B76A6A-A008-446A-B3D8-DE84C3AF3CA5}" type="doc">
      <dgm:prSet loTypeId="urn:microsoft.com/office/officeart/2005/8/layout/defaul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6C9AA52-4468-4B23-A760-AEB14CC08F3D}">
      <dgm:prSet/>
      <dgm:spPr/>
      <dgm:t>
        <a:bodyPr/>
        <a:lstStyle/>
        <a:p>
          <a:r>
            <a:rPr lang="it-IT" b="1"/>
            <a:t>Phase 1: Unsupervised Learning</a:t>
          </a:r>
          <a:endParaRPr lang="en-US"/>
        </a:p>
      </dgm:t>
    </dgm:pt>
    <dgm:pt modelId="{0BAE19C8-835F-4462-897C-B30BA08EFEA2}" type="parTrans" cxnId="{B38C26B2-AC0A-431B-8D6E-8DF7A77C99E5}">
      <dgm:prSet/>
      <dgm:spPr/>
      <dgm:t>
        <a:bodyPr/>
        <a:lstStyle/>
        <a:p>
          <a:endParaRPr lang="en-US"/>
        </a:p>
      </dgm:t>
    </dgm:pt>
    <dgm:pt modelId="{4349C8C2-D53C-4535-84A5-05D533614EB8}" type="sibTrans" cxnId="{B38C26B2-AC0A-431B-8D6E-8DF7A77C99E5}">
      <dgm:prSet/>
      <dgm:spPr/>
      <dgm:t>
        <a:bodyPr/>
        <a:lstStyle/>
        <a:p>
          <a:endParaRPr lang="en-US"/>
        </a:p>
      </dgm:t>
    </dgm:pt>
    <dgm:pt modelId="{9A349810-9C8E-4472-BF9F-AE78CE8BF47D}">
      <dgm:prSet/>
      <dgm:spPr/>
      <dgm:t>
        <a:bodyPr/>
        <a:lstStyle/>
        <a:p>
          <a:r>
            <a:rPr lang="it-IT" b="1"/>
            <a:t>Multicollinearity Check</a:t>
          </a:r>
          <a:r>
            <a:rPr lang="it-IT"/>
            <a:t>: Remove highly correlated features.</a:t>
          </a:r>
          <a:endParaRPr lang="en-US"/>
        </a:p>
      </dgm:t>
    </dgm:pt>
    <dgm:pt modelId="{D116C470-39BF-453C-80A0-4C1E068B32FA}" type="parTrans" cxnId="{5B965DCF-70A1-4A7C-892B-5E07B8069711}">
      <dgm:prSet/>
      <dgm:spPr/>
      <dgm:t>
        <a:bodyPr/>
        <a:lstStyle/>
        <a:p>
          <a:endParaRPr lang="en-US"/>
        </a:p>
      </dgm:t>
    </dgm:pt>
    <dgm:pt modelId="{6DDE8689-C3BE-40A8-9E41-0318A3F09D34}" type="sibTrans" cxnId="{5B965DCF-70A1-4A7C-892B-5E07B8069711}">
      <dgm:prSet/>
      <dgm:spPr/>
      <dgm:t>
        <a:bodyPr/>
        <a:lstStyle/>
        <a:p>
          <a:endParaRPr lang="en-US"/>
        </a:p>
      </dgm:t>
    </dgm:pt>
    <dgm:pt modelId="{BF3B0438-FC9D-486E-81E4-349860A69D81}">
      <dgm:prSet/>
      <dgm:spPr/>
      <dgm:t>
        <a:bodyPr/>
        <a:lstStyle/>
        <a:p>
          <a:r>
            <a:rPr lang="it-IT" b="1"/>
            <a:t>PCA</a:t>
          </a:r>
          <a:r>
            <a:rPr lang="it-IT"/>
            <a:t>: Dimensionality reduction (retain variance).</a:t>
          </a:r>
          <a:endParaRPr lang="en-US"/>
        </a:p>
      </dgm:t>
    </dgm:pt>
    <dgm:pt modelId="{7125EFC0-274A-496C-A270-015E0EFA1BB1}" type="parTrans" cxnId="{B96FC167-69B6-4FFB-9957-E7A4D3E2DD69}">
      <dgm:prSet/>
      <dgm:spPr/>
      <dgm:t>
        <a:bodyPr/>
        <a:lstStyle/>
        <a:p>
          <a:endParaRPr lang="en-US"/>
        </a:p>
      </dgm:t>
    </dgm:pt>
    <dgm:pt modelId="{A2CCFF1C-2E0E-4760-AD1F-57ECE4E838CD}" type="sibTrans" cxnId="{B96FC167-69B6-4FFB-9957-E7A4D3E2DD69}">
      <dgm:prSet/>
      <dgm:spPr/>
      <dgm:t>
        <a:bodyPr/>
        <a:lstStyle/>
        <a:p>
          <a:endParaRPr lang="en-US"/>
        </a:p>
      </dgm:t>
    </dgm:pt>
    <dgm:pt modelId="{B7A0E3A7-FDF5-45D3-BA0E-84F522B275B9}">
      <dgm:prSet/>
      <dgm:spPr/>
      <dgm:t>
        <a:bodyPr/>
        <a:lstStyle/>
        <a:p>
          <a:r>
            <a:rPr lang="it-IT" b="1"/>
            <a:t>Hierarchical Clustering</a:t>
          </a:r>
          <a:r>
            <a:rPr lang="it-IT"/>
            <a:t>: Uncover natural groupings.</a:t>
          </a:r>
          <a:endParaRPr lang="en-US"/>
        </a:p>
      </dgm:t>
    </dgm:pt>
    <dgm:pt modelId="{E4D91BD1-F63B-4FF5-A005-740550CDB3F7}" type="parTrans" cxnId="{F5D1E6DB-508D-490B-A0B2-598E55AA6D6E}">
      <dgm:prSet/>
      <dgm:spPr/>
      <dgm:t>
        <a:bodyPr/>
        <a:lstStyle/>
        <a:p>
          <a:endParaRPr lang="en-US"/>
        </a:p>
      </dgm:t>
    </dgm:pt>
    <dgm:pt modelId="{45F8D816-5A71-4DF0-9DA0-B41E04CF4EDF}" type="sibTrans" cxnId="{F5D1E6DB-508D-490B-A0B2-598E55AA6D6E}">
      <dgm:prSet/>
      <dgm:spPr/>
      <dgm:t>
        <a:bodyPr/>
        <a:lstStyle/>
        <a:p>
          <a:endParaRPr lang="en-US"/>
        </a:p>
      </dgm:t>
    </dgm:pt>
    <dgm:pt modelId="{7DA51B81-3158-473E-9586-BDDCB9CE884F}">
      <dgm:prSet/>
      <dgm:spPr/>
      <dgm:t>
        <a:bodyPr/>
        <a:lstStyle/>
        <a:p>
          <a:r>
            <a:rPr lang="it-IT" b="1"/>
            <a:t>t-SNE &amp; UMAP</a:t>
          </a:r>
          <a:r>
            <a:rPr lang="it-IT"/>
            <a:t>: Visualize high-dimensional data in 2D</a:t>
          </a:r>
          <a:endParaRPr lang="en-US"/>
        </a:p>
      </dgm:t>
    </dgm:pt>
    <dgm:pt modelId="{EAEF73DD-8691-4A10-A294-E32CB30C64B7}" type="parTrans" cxnId="{91766C45-018F-4A1D-B18D-A1F55F463613}">
      <dgm:prSet/>
      <dgm:spPr/>
      <dgm:t>
        <a:bodyPr/>
        <a:lstStyle/>
        <a:p>
          <a:endParaRPr lang="en-US"/>
        </a:p>
      </dgm:t>
    </dgm:pt>
    <dgm:pt modelId="{57E12BEF-F67C-40BF-97D7-AE437A07DC22}" type="sibTrans" cxnId="{91766C45-018F-4A1D-B18D-A1F55F463613}">
      <dgm:prSet/>
      <dgm:spPr/>
      <dgm:t>
        <a:bodyPr/>
        <a:lstStyle/>
        <a:p>
          <a:endParaRPr lang="en-US"/>
        </a:p>
      </dgm:t>
    </dgm:pt>
    <dgm:pt modelId="{38E1A450-E1CD-4771-9182-0189AC62BF64}">
      <dgm:prSet/>
      <dgm:spPr/>
      <dgm:t>
        <a:bodyPr/>
        <a:lstStyle/>
        <a:p>
          <a:r>
            <a:rPr lang="it-IT"/>
            <a:t>Phase 2: Supervised Learning</a:t>
          </a:r>
          <a:endParaRPr lang="en-US"/>
        </a:p>
      </dgm:t>
    </dgm:pt>
    <dgm:pt modelId="{607982CB-D2EE-4918-BB50-C48688B15AFE}" type="parTrans" cxnId="{295FB52C-AEF8-4799-B4C2-9CAFE122694F}">
      <dgm:prSet/>
      <dgm:spPr/>
      <dgm:t>
        <a:bodyPr/>
        <a:lstStyle/>
        <a:p>
          <a:endParaRPr lang="en-US"/>
        </a:p>
      </dgm:t>
    </dgm:pt>
    <dgm:pt modelId="{F2F668ED-0615-436B-A119-D8FF47A1177A}" type="sibTrans" cxnId="{295FB52C-AEF8-4799-B4C2-9CAFE122694F}">
      <dgm:prSet/>
      <dgm:spPr/>
      <dgm:t>
        <a:bodyPr/>
        <a:lstStyle/>
        <a:p>
          <a:endParaRPr lang="en-US"/>
        </a:p>
      </dgm:t>
    </dgm:pt>
    <dgm:pt modelId="{5B92807A-BF52-46AF-9215-C4A9A28D70C2}">
      <dgm:prSet/>
      <dgm:spPr/>
      <dgm:t>
        <a:bodyPr/>
        <a:lstStyle/>
        <a:p>
          <a:r>
            <a:rPr lang="en-US"/>
            <a:t>Logistic Regression (Elastic Net): Feature selection + robust modeling</a:t>
          </a:r>
        </a:p>
      </dgm:t>
    </dgm:pt>
    <dgm:pt modelId="{192610A4-0019-4642-B5F7-1A3DEBDF1260}" type="parTrans" cxnId="{936133A6-8F41-45F6-ABB4-5C36016BD45A}">
      <dgm:prSet/>
      <dgm:spPr/>
      <dgm:t>
        <a:bodyPr/>
        <a:lstStyle/>
        <a:p>
          <a:endParaRPr lang="en-US"/>
        </a:p>
      </dgm:t>
    </dgm:pt>
    <dgm:pt modelId="{954DF114-429B-4DB4-8D1E-C4F80420BA85}" type="sibTrans" cxnId="{936133A6-8F41-45F6-ABB4-5C36016BD45A}">
      <dgm:prSet/>
      <dgm:spPr/>
      <dgm:t>
        <a:bodyPr/>
        <a:lstStyle/>
        <a:p>
          <a:endParaRPr lang="en-US"/>
        </a:p>
      </dgm:t>
    </dgm:pt>
    <dgm:pt modelId="{A1D6DE26-9393-4D1A-A433-65E3E031DA6F}">
      <dgm:prSet/>
      <dgm:spPr/>
      <dgm:t>
        <a:bodyPr/>
        <a:lstStyle/>
        <a:p>
          <a:r>
            <a:rPr lang="en-US" b="1"/>
            <a:t>Random Forest</a:t>
          </a:r>
          <a:r>
            <a:rPr lang="en-US"/>
            <a:t>: Capture non-linear relationships, evaluate feature importance</a:t>
          </a:r>
        </a:p>
      </dgm:t>
    </dgm:pt>
    <dgm:pt modelId="{4BBD2B2F-CABB-4334-9652-EF4F2CD36FD5}" type="parTrans" cxnId="{40ACC966-1453-43C2-AD0A-D6D7CB1EE773}">
      <dgm:prSet/>
      <dgm:spPr/>
      <dgm:t>
        <a:bodyPr/>
        <a:lstStyle/>
        <a:p>
          <a:endParaRPr lang="en-US"/>
        </a:p>
      </dgm:t>
    </dgm:pt>
    <dgm:pt modelId="{82962988-F0BD-41B8-BE96-2BB7C48671D6}" type="sibTrans" cxnId="{40ACC966-1453-43C2-AD0A-D6D7CB1EE773}">
      <dgm:prSet/>
      <dgm:spPr/>
      <dgm:t>
        <a:bodyPr/>
        <a:lstStyle/>
        <a:p>
          <a:endParaRPr lang="en-US"/>
        </a:p>
      </dgm:t>
    </dgm:pt>
    <dgm:pt modelId="{20B8BFA5-B755-4C5B-895A-4F99E893FC2E}">
      <dgm:prSet/>
      <dgm:spPr/>
      <dgm:t>
        <a:bodyPr/>
        <a:lstStyle/>
        <a:p>
          <a:r>
            <a:rPr lang="en-US" b="1"/>
            <a:t>XGBoost</a:t>
          </a:r>
          <a:r>
            <a:rPr lang="en-US"/>
            <a:t>: Boosting for high-dimensional performance</a:t>
          </a:r>
        </a:p>
      </dgm:t>
    </dgm:pt>
    <dgm:pt modelId="{B1A106FB-392B-45D2-AFA9-31301E38E302}" type="parTrans" cxnId="{C7D5C0A3-2194-4609-BADE-AA808802F305}">
      <dgm:prSet/>
      <dgm:spPr/>
      <dgm:t>
        <a:bodyPr/>
        <a:lstStyle/>
        <a:p>
          <a:endParaRPr lang="en-US"/>
        </a:p>
      </dgm:t>
    </dgm:pt>
    <dgm:pt modelId="{A54F0819-142B-4A9D-88CF-4B1BEFDC8622}" type="sibTrans" cxnId="{C7D5C0A3-2194-4609-BADE-AA808802F305}">
      <dgm:prSet/>
      <dgm:spPr/>
      <dgm:t>
        <a:bodyPr/>
        <a:lstStyle/>
        <a:p>
          <a:endParaRPr lang="en-US"/>
        </a:p>
      </dgm:t>
    </dgm:pt>
    <dgm:pt modelId="{EB2263A5-DDE5-4446-9100-DD0E548788AB}">
      <dgm:prSet/>
      <dgm:spPr/>
      <dgm:t>
        <a:bodyPr/>
        <a:lstStyle/>
        <a:p>
          <a:r>
            <a:rPr lang="en-US" b="1"/>
            <a:t>Neural Network</a:t>
          </a:r>
          <a:r>
            <a:rPr lang="en-US"/>
            <a:t>: Deep learning with cross-validation.</a:t>
          </a:r>
        </a:p>
      </dgm:t>
    </dgm:pt>
    <dgm:pt modelId="{25454B32-0F9B-41D4-A3D8-2512B9ED7B5F}" type="parTrans" cxnId="{81D468AD-7DC4-404E-A301-E6ABACCD7DBC}">
      <dgm:prSet/>
      <dgm:spPr/>
      <dgm:t>
        <a:bodyPr/>
        <a:lstStyle/>
        <a:p>
          <a:endParaRPr lang="en-US"/>
        </a:p>
      </dgm:t>
    </dgm:pt>
    <dgm:pt modelId="{EEDA74B9-1D68-4422-9347-46F1F5EA64B8}" type="sibTrans" cxnId="{81D468AD-7DC4-404E-A301-E6ABACCD7DBC}">
      <dgm:prSet/>
      <dgm:spPr/>
      <dgm:t>
        <a:bodyPr/>
        <a:lstStyle/>
        <a:p>
          <a:endParaRPr lang="en-US"/>
        </a:p>
      </dgm:t>
    </dgm:pt>
    <dgm:pt modelId="{8C9CFF9B-8C20-45B6-9406-F0A1B374F4AE}" type="pres">
      <dgm:prSet presAssocID="{ACB76A6A-A008-446A-B3D8-DE84C3AF3CA5}" presName="diagram" presStyleCnt="0">
        <dgm:presLayoutVars>
          <dgm:dir/>
          <dgm:resizeHandles val="exact"/>
        </dgm:presLayoutVars>
      </dgm:prSet>
      <dgm:spPr/>
    </dgm:pt>
    <dgm:pt modelId="{10343F34-AA4F-40CA-8A89-BC33ACFB59AE}" type="pres">
      <dgm:prSet presAssocID="{06C9AA52-4468-4B23-A760-AEB14CC08F3D}" presName="node" presStyleLbl="node1" presStyleIdx="0" presStyleCnt="10">
        <dgm:presLayoutVars>
          <dgm:bulletEnabled val="1"/>
        </dgm:presLayoutVars>
      </dgm:prSet>
      <dgm:spPr/>
    </dgm:pt>
    <dgm:pt modelId="{1B921350-7E42-4331-9824-DBF530A5BA92}" type="pres">
      <dgm:prSet presAssocID="{4349C8C2-D53C-4535-84A5-05D533614EB8}" presName="sibTrans" presStyleCnt="0"/>
      <dgm:spPr/>
    </dgm:pt>
    <dgm:pt modelId="{51E1512C-CA07-48FC-BF57-23CB9890ECFE}" type="pres">
      <dgm:prSet presAssocID="{9A349810-9C8E-4472-BF9F-AE78CE8BF47D}" presName="node" presStyleLbl="node1" presStyleIdx="1" presStyleCnt="10">
        <dgm:presLayoutVars>
          <dgm:bulletEnabled val="1"/>
        </dgm:presLayoutVars>
      </dgm:prSet>
      <dgm:spPr/>
    </dgm:pt>
    <dgm:pt modelId="{FE219B22-6EF4-4AE2-89D4-A1B54D5C80B5}" type="pres">
      <dgm:prSet presAssocID="{6DDE8689-C3BE-40A8-9E41-0318A3F09D34}" presName="sibTrans" presStyleCnt="0"/>
      <dgm:spPr/>
    </dgm:pt>
    <dgm:pt modelId="{A483C7A2-9D8A-44FA-8A54-74694C808143}" type="pres">
      <dgm:prSet presAssocID="{BF3B0438-FC9D-486E-81E4-349860A69D81}" presName="node" presStyleLbl="node1" presStyleIdx="2" presStyleCnt="10">
        <dgm:presLayoutVars>
          <dgm:bulletEnabled val="1"/>
        </dgm:presLayoutVars>
      </dgm:prSet>
      <dgm:spPr/>
    </dgm:pt>
    <dgm:pt modelId="{71E4BE9D-E919-46C4-875B-856BB52FAEF5}" type="pres">
      <dgm:prSet presAssocID="{A2CCFF1C-2E0E-4760-AD1F-57ECE4E838CD}" presName="sibTrans" presStyleCnt="0"/>
      <dgm:spPr/>
    </dgm:pt>
    <dgm:pt modelId="{0AFDF349-5860-46D4-80C2-B20F17749DA3}" type="pres">
      <dgm:prSet presAssocID="{B7A0E3A7-FDF5-45D3-BA0E-84F522B275B9}" presName="node" presStyleLbl="node1" presStyleIdx="3" presStyleCnt="10">
        <dgm:presLayoutVars>
          <dgm:bulletEnabled val="1"/>
        </dgm:presLayoutVars>
      </dgm:prSet>
      <dgm:spPr/>
    </dgm:pt>
    <dgm:pt modelId="{ACCBC8E0-6515-41D5-84FE-4FFE5CBBD5E1}" type="pres">
      <dgm:prSet presAssocID="{45F8D816-5A71-4DF0-9DA0-B41E04CF4EDF}" presName="sibTrans" presStyleCnt="0"/>
      <dgm:spPr/>
    </dgm:pt>
    <dgm:pt modelId="{4A64EA7C-5D40-49D2-BD6D-6554374C666B}" type="pres">
      <dgm:prSet presAssocID="{7DA51B81-3158-473E-9586-BDDCB9CE884F}" presName="node" presStyleLbl="node1" presStyleIdx="4" presStyleCnt="10">
        <dgm:presLayoutVars>
          <dgm:bulletEnabled val="1"/>
        </dgm:presLayoutVars>
      </dgm:prSet>
      <dgm:spPr/>
    </dgm:pt>
    <dgm:pt modelId="{0E16F51F-9E10-469D-B3DD-BCFF0A3F3EDA}" type="pres">
      <dgm:prSet presAssocID="{57E12BEF-F67C-40BF-97D7-AE437A07DC22}" presName="sibTrans" presStyleCnt="0"/>
      <dgm:spPr/>
    </dgm:pt>
    <dgm:pt modelId="{20CDF121-5A08-4BAE-B12C-C37945F3C914}" type="pres">
      <dgm:prSet presAssocID="{38E1A450-E1CD-4771-9182-0189AC62BF64}" presName="node" presStyleLbl="node1" presStyleIdx="5" presStyleCnt="10">
        <dgm:presLayoutVars>
          <dgm:bulletEnabled val="1"/>
        </dgm:presLayoutVars>
      </dgm:prSet>
      <dgm:spPr/>
    </dgm:pt>
    <dgm:pt modelId="{91F9403B-97E0-41F4-83B9-1998F0308FCF}" type="pres">
      <dgm:prSet presAssocID="{F2F668ED-0615-436B-A119-D8FF47A1177A}" presName="sibTrans" presStyleCnt="0"/>
      <dgm:spPr/>
    </dgm:pt>
    <dgm:pt modelId="{778C8810-FAD1-4066-BF22-D42B7F34219D}" type="pres">
      <dgm:prSet presAssocID="{5B92807A-BF52-46AF-9215-C4A9A28D70C2}" presName="node" presStyleLbl="node1" presStyleIdx="6" presStyleCnt="10">
        <dgm:presLayoutVars>
          <dgm:bulletEnabled val="1"/>
        </dgm:presLayoutVars>
      </dgm:prSet>
      <dgm:spPr/>
    </dgm:pt>
    <dgm:pt modelId="{7EF8F56C-24A8-4B0B-822E-A5BD312BE330}" type="pres">
      <dgm:prSet presAssocID="{954DF114-429B-4DB4-8D1E-C4F80420BA85}" presName="sibTrans" presStyleCnt="0"/>
      <dgm:spPr/>
    </dgm:pt>
    <dgm:pt modelId="{24556D1A-EC55-47B2-8F10-D90E8F9903A8}" type="pres">
      <dgm:prSet presAssocID="{A1D6DE26-9393-4D1A-A433-65E3E031DA6F}" presName="node" presStyleLbl="node1" presStyleIdx="7" presStyleCnt="10">
        <dgm:presLayoutVars>
          <dgm:bulletEnabled val="1"/>
        </dgm:presLayoutVars>
      </dgm:prSet>
      <dgm:spPr/>
    </dgm:pt>
    <dgm:pt modelId="{DDAA5AF4-51FE-4A30-8515-A4A9697D8490}" type="pres">
      <dgm:prSet presAssocID="{82962988-F0BD-41B8-BE96-2BB7C48671D6}" presName="sibTrans" presStyleCnt="0"/>
      <dgm:spPr/>
    </dgm:pt>
    <dgm:pt modelId="{A091219E-BB8A-4F6C-961B-050E0CBF8A6A}" type="pres">
      <dgm:prSet presAssocID="{20B8BFA5-B755-4C5B-895A-4F99E893FC2E}" presName="node" presStyleLbl="node1" presStyleIdx="8" presStyleCnt="10">
        <dgm:presLayoutVars>
          <dgm:bulletEnabled val="1"/>
        </dgm:presLayoutVars>
      </dgm:prSet>
      <dgm:spPr/>
    </dgm:pt>
    <dgm:pt modelId="{21F46D7F-B814-4961-92C9-06012C8A43DF}" type="pres">
      <dgm:prSet presAssocID="{A54F0819-142B-4A9D-88CF-4B1BEFDC8622}" presName="sibTrans" presStyleCnt="0"/>
      <dgm:spPr/>
    </dgm:pt>
    <dgm:pt modelId="{CFA56787-E959-4E7C-A592-3F54E949D8A4}" type="pres">
      <dgm:prSet presAssocID="{EB2263A5-DDE5-4446-9100-DD0E548788AB}" presName="node" presStyleLbl="node1" presStyleIdx="9" presStyleCnt="10">
        <dgm:presLayoutVars>
          <dgm:bulletEnabled val="1"/>
        </dgm:presLayoutVars>
      </dgm:prSet>
      <dgm:spPr/>
    </dgm:pt>
  </dgm:ptLst>
  <dgm:cxnLst>
    <dgm:cxn modelId="{2197B501-BFBC-40BE-9D92-C64068DF7594}" type="presOf" srcId="{06C9AA52-4468-4B23-A760-AEB14CC08F3D}" destId="{10343F34-AA4F-40CA-8A89-BC33ACFB59AE}" srcOrd="0" destOrd="0" presId="urn:microsoft.com/office/officeart/2005/8/layout/default"/>
    <dgm:cxn modelId="{EE9F6005-D030-4917-A6B6-5D17A90E1D6A}" type="presOf" srcId="{7DA51B81-3158-473E-9586-BDDCB9CE884F}" destId="{4A64EA7C-5D40-49D2-BD6D-6554374C666B}" srcOrd="0" destOrd="0" presId="urn:microsoft.com/office/officeart/2005/8/layout/default"/>
    <dgm:cxn modelId="{CC9DA717-6BBE-4970-8864-D7FD9DB8765F}" type="presOf" srcId="{A1D6DE26-9393-4D1A-A433-65E3E031DA6F}" destId="{24556D1A-EC55-47B2-8F10-D90E8F9903A8}" srcOrd="0" destOrd="0" presId="urn:microsoft.com/office/officeart/2005/8/layout/default"/>
    <dgm:cxn modelId="{CE799929-9F02-4444-A787-8798E4964C22}" type="presOf" srcId="{EB2263A5-DDE5-4446-9100-DD0E548788AB}" destId="{CFA56787-E959-4E7C-A592-3F54E949D8A4}" srcOrd="0" destOrd="0" presId="urn:microsoft.com/office/officeart/2005/8/layout/default"/>
    <dgm:cxn modelId="{295FB52C-AEF8-4799-B4C2-9CAFE122694F}" srcId="{ACB76A6A-A008-446A-B3D8-DE84C3AF3CA5}" destId="{38E1A450-E1CD-4771-9182-0189AC62BF64}" srcOrd="5" destOrd="0" parTransId="{607982CB-D2EE-4918-BB50-C48688B15AFE}" sibTransId="{F2F668ED-0615-436B-A119-D8FF47A1177A}"/>
    <dgm:cxn modelId="{A5757562-7707-46ED-9361-1D34AF0E5318}" type="presOf" srcId="{B7A0E3A7-FDF5-45D3-BA0E-84F522B275B9}" destId="{0AFDF349-5860-46D4-80C2-B20F17749DA3}" srcOrd="0" destOrd="0" presId="urn:microsoft.com/office/officeart/2005/8/layout/default"/>
    <dgm:cxn modelId="{91766C45-018F-4A1D-B18D-A1F55F463613}" srcId="{ACB76A6A-A008-446A-B3D8-DE84C3AF3CA5}" destId="{7DA51B81-3158-473E-9586-BDDCB9CE884F}" srcOrd="4" destOrd="0" parTransId="{EAEF73DD-8691-4A10-A294-E32CB30C64B7}" sibTransId="{57E12BEF-F67C-40BF-97D7-AE437A07DC22}"/>
    <dgm:cxn modelId="{40ACC966-1453-43C2-AD0A-D6D7CB1EE773}" srcId="{ACB76A6A-A008-446A-B3D8-DE84C3AF3CA5}" destId="{A1D6DE26-9393-4D1A-A433-65E3E031DA6F}" srcOrd="7" destOrd="0" parTransId="{4BBD2B2F-CABB-4334-9652-EF4F2CD36FD5}" sibTransId="{82962988-F0BD-41B8-BE96-2BB7C48671D6}"/>
    <dgm:cxn modelId="{B96FC167-69B6-4FFB-9957-E7A4D3E2DD69}" srcId="{ACB76A6A-A008-446A-B3D8-DE84C3AF3CA5}" destId="{BF3B0438-FC9D-486E-81E4-349860A69D81}" srcOrd="2" destOrd="0" parTransId="{7125EFC0-274A-496C-A270-015E0EFA1BB1}" sibTransId="{A2CCFF1C-2E0E-4760-AD1F-57ECE4E838CD}"/>
    <dgm:cxn modelId="{DF034C50-FF1C-41ED-9D45-76BA8112C8F9}" type="presOf" srcId="{38E1A450-E1CD-4771-9182-0189AC62BF64}" destId="{20CDF121-5A08-4BAE-B12C-C37945F3C914}" srcOrd="0" destOrd="0" presId="urn:microsoft.com/office/officeart/2005/8/layout/default"/>
    <dgm:cxn modelId="{3F98CB98-9CFC-46AA-99F7-82A602F6F8E1}" type="presOf" srcId="{20B8BFA5-B755-4C5B-895A-4F99E893FC2E}" destId="{A091219E-BB8A-4F6C-961B-050E0CBF8A6A}" srcOrd="0" destOrd="0" presId="urn:microsoft.com/office/officeart/2005/8/layout/default"/>
    <dgm:cxn modelId="{C7D5C0A3-2194-4609-BADE-AA808802F305}" srcId="{ACB76A6A-A008-446A-B3D8-DE84C3AF3CA5}" destId="{20B8BFA5-B755-4C5B-895A-4F99E893FC2E}" srcOrd="8" destOrd="0" parTransId="{B1A106FB-392B-45D2-AFA9-31301E38E302}" sibTransId="{A54F0819-142B-4A9D-88CF-4B1BEFDC8622}"/>
    <dgm:cxn modelId="{936133A6-8F41-45F6-ABB4-5C36016BD45A}" srcId="{ACB76A6A-A008-446A-B3D8-DE84C3AF3CA5}" destId="{5B92807A-BF52-46AF-9215-C4A9A28D70C2}" srcOrd="6" destOrd="0" parTransId="{192610A4-0019-4642-B5F7-1A3DEBDF1260}" sibTransId="{954DF114-429B-4DB4-8D1E-C4F80420BA85}"/>
    <dgm:cxn modelId="{ADF489AA-97BE-45AA-99E0-5D70D696128B}" type="presOf" srcId="{BF3B0438-FC9D-486E-81E4-349860A69D81}" destId="{A483C7A2-9D8A-44FA-8A54-74694C808143}" srcOrd="0" destOrd="0" presId="urn:microsoft.com/office/officeart/2005/8/layout/default"/>
    <dgm:cxn modelId="{81D468AD-7DC4-404E-A301-E6ABACCD7DBC}" srcId="{ACB76A6A-A008-446A-B3D8-DE84C3AF3CA5}" destId="{EB2263A5-DDE5-4446-9100-DD0E548788AB}" srcOrd="9" destOrd="0" parTransId="{25454B32-0F9B-41D4-A3D8-2512B9ED7B5F}" sibTransId="{EEDA74B9-1D68-4422-9347-46F1F5EA64B8}"/>
    <dgm:cxn modelId="{B38C26B2-AC0A-431B-8D6E-8DF7A77C99E5}" srcId="{ACB76A6A-A008-446A-B3D8-DE84C3AF3CA5}" destId="{06C9AA52-4468-4B23-A760-AEB14CC08F3D}" srcOrd="0" destOrd="0" parTransId="{0BAE19C8-835F-4462-897C-B30BA08EFEA2}" sibTransId="{4349C8C2-D53C-4535-84A5-05D533614EB8}"/>
    <dgm:cxn modelId="{A1A762BA-5314-4EB8-9A26-24A4E53D5C9A}" type="presOf" srcId="{5B92807A-BF52-46AF-9215-C4A9A28D70C2}" destId="{778C8810-FAD1-4066-BF22-D42B7F34219D}" srcOrd="0" destOrd="0" presId="urn:microsoft.com/office/officeart/2005/8/layout/default"/>
    <dgm:cxn modelId="{5B965DCF-70A1-4A7C-892B-5E07B8069711}" srcId="{ACB76A6A-A008-446A-B3D8-DE84C3AF3CA5}" destId="{9A349810-9C8E-4472-BF9F-AE78CE8BF47D}" srcOrd="1" destOrd="0" parTransId="{D116C470-39BF-453C-80A0-4C1E068B32FA}" sibTransId="{6DDE8689-C3BE-40A8-9E41-0318A3F09D34}"/>
    <dgm:cxn modelId="{F5D1E6DB-508D-490B-A0B2-598E55AA6D6E}" srcId="{ACB76A6A-A008-446A-B3D8-DE84C3AF3CA5}" destId="{B7A0E3A7-FDF5-45D3-BA0E-84F522B275B9}" srcOrd="3" destOrd="0" parTransId="{E4D91BD1-F63B-4FF5-A005-740550CDB3F7}" sibTransId="{45F8D816-5A71-4DF0-9DA0-B41E04CF4EDF}"/>
    <dgm:cxn modelId="{B07719E4-F776-4FF4-B7CA-CC02D80CF6EF}" type="presOf" srcId="{ACB76A6A-A008-446A-B3D8-DE84C3AF3CA5}" destId="{8C9CFF9B-8C20-45B6-9406-F0A1B374F4AE}" srcOrd="0" destOrd="0" presId="urn:microsoft.com/office/officeart/2005/8/layout/default"/>
    <dgm:cxn modelId="{94FEE5FA-56B9-47D9-B33B-4A2CC5F43D44}" type="presOf" srcId="{9A349810-9C8E-4472-BF9F-AE78CE8BF47D}" destId="{51E1512C-CA07-48FC-BF57-23CB9890ECFE}" srcOrd="0" destOrd="0" presId="urn:microsoft.com/office/officeart/2005/8/layout/default"/>
    <dgm:cxn modelId="{6D2E52D4-181C-4DC6-9AF1-EC8676F765DB}" type="presParOf" srcId="{8C9CFF9B-8C20-45B6-9406-F0A1B374F4AE}" destId="{10343F34-AA4F-40CA-8A89-BC33ACFB59AE}" srcOrd="0" destOrd="0" presId="urn:microsoft.com/office/officeart/2005/8/layout/default"/>
    <dgm:cxn modelId="{485B37A8-6795-4E47-AF87-C10918C0B94D}" type="presParOf" srcId="{8C9CFF9B-8C20-45B6-9406-F0A1B374F4AE}" destId="{1B921350-7E42-4331-9824-DBF530A5BA92}" srcOrd="1" destOrd="0" presId="urn:microsoft.com/office/officeart/2005/8/layout/default"/>
    <dgm:cxn modelId="{CEFF5E59-FA21-49C4-AC76-0BE974BB8E62}" type="presParOf" srcId="{8C9CFF9B-8C20-45B6-9406-F0A1B374F4AE}" destId="{51E1512C-CA07-48FC-BF57-23CB9890ECFE}" srcOrd="2" destOrd="0" presId="urn:microsoft.com/office/officeart/2005/8/layout/default"/>
    <dgm:cxn modelId="{4F0D09A4-3DFF-49A9-B26E-DFF2590691E3}" type="presParOf" srcId="{8C9CFF9B-8C20-45B6-9406-F0A1B374F4AE}" destId="{FE219B22-6EF4-4AE2-89D4-A1B54D5C80B5}" srcOrd="3" destOrd="0" presId="urn:microsoft.com/office/officeart/2005/8/layout/default"/>
    <dgm:cxn modelId="{1CC1D78F-D9B7-4797-9351-2CAA88E02A3A}" type="presParOf" srcId="{8C9CFF9B-8C20-45B6-9406-F0A1B374F4AE}" destId="{A483C7A2-9D8A-44FA-8A54-74694C808143}" srcOrd="4" destOrd="0" presId="urn:microsoft.com/office/officeart/2005/8/layout/default"/>
    <dgm:cxn modelId="{E0F1AE7F-CF50-4804-BB1F-3946F101A974}" type="presParOf" srcId="{8C9CFF9B-8C20-45B6-9406-F0A1B374F4AE}" destId="{71E4BE9D-E919-46C4-875B-856BB52FAEF5}" srcOrd="5" destOrd="0" presId="urn:microsoft.com/office/officeart/2005/8/layout/default"/>
    <dgm:cxn modelId="{8C826203-6867-4D98-B4AC-5A4797362E68}" type="presParOf" srcId="{8C9CFF9B-8C20-45B6-9406-F0A1B374F4AE}" destId="{0AFDF349-5860-46D4-80C2-B20F17749DA3}" srcOrd="6" destOrd="0" presId="urn:microsoft.com/office/officeart/2005/8/layout/default"/>
    <dgm:cxn modelId="{FC1BA362-516A-4B7C-B6DE-50A3B68529B4}" type="presParOf" srcId="{8C9CFF9B-8C20-45B6-9406-F0A1B374F4AE}" destId="{ACCBC8E0-6515-41D5-84FE-4FFE5CBBD5E1}" srcOrd="7" destOrd="0" presId="urn:microsoft.com/office/officeart/2005/8/layout/default"/>
    <dgm:cxn modelId="{C609E33C-0558-4280-A0E1-2D39D576D2D6}" type="presParOf" srcId="{8C9CFF9B-8C20-45B6-9406-F0A1B374F4AE}" destId="{4A64EA7C-5D40-49D2-BD6D-6554374C666B}" srcOrd="8" destOrd="0" presId="urn:microsoft.com/office/officeart/2005/8/layout/default"/>
    <dgm:cxn modelId="{DAB9AF8C-5A61-4E82-9D8B-637A5C2EE0B1}" type="presParOf" srcId="{8C9CFF9B-8C20-45B6-9406-F0A1B374F4AE}" destId="{0E16F51F-9E10-469D-B3DD-BCFF0A3F3EDA}" srcOrd="9" destOrd="0" presId="urn:microsoft.com/office/officeart/2005/8/layout/default"/>
    <dgm:cxn modelId="{4D522334-88FA-4990-81FD-25264CFE8863}" type="presParOf" srcId="{8C9CFF9B-8C20-45B6-9406-F0A1B374F4AE}" destId="{20CDF121-5A08-4BAE-B12C-C37945F3C914}" srcOrd="10" destOrd="0" presId="urn:microsoft.com/office/officeart/2005/8/layout/default"/>
    <dgm:cxn modelId="{58326DCE-B91D-46F1-AB58-1116D525C44A}" type="presParOf" srcId="{8C9CFF9B-8C20-45B6-9406-F0A1B374F4AE}" destId="{91F9403B-97E0-41F4-83B9-1998F0308FCF}" srcOrd="11" destOrd="0" presId="urn:microsoft.com/office/officeart/2005/8/layout/default"/>
    <dgm:cxn modelId="{9F52AC84-9125-430A-B980-6C479492EC70}" type="presParOf" srcId="{8C9CFF9B-8C20-45B6-9406-F0A1B374F4AE}" destId="{778C8810-FAD1-4066-BF22-D42B7F34219D}" srcOrd="12" destOrd="0" presId="urn:microsoft.com/office/officeart/2005/8/layout/default"/>
    <dgm:cxn modelId="{A6D06FB5-58DD-46CB-A1A9-4ED23B60AF3D}" type="presParOf" srcId="{8C9CFF9B-8C20-45B6-9406-F0A1B374F4AE}" destId="{7EF8F56C-24A8-4B0B-822E-A5BD312BE330}" srcOrd="13" destOrd="0" presId="urn:microsoft.com/office/officeart/2005/8/layout/default"/>
    <dgm:cxn modelId="{CAE0EA71-E9AF-4E17-A83A-ABC289772A6B}" type="presParOf" srcId="{8C9CFF9B-8C20-45B6-9406-F0A1B374F4AE}" destId="{24556D1A-EC55-47B2-8F10-D90E8F9903A8}" srcOrd="14" destOrd="0" presId="urn:microsoft.com/office/officeart/2005/8/layout/default"/>
    <dgm:cxn modelId="{F44EA5C0-2113-4076-A6AD-DB712FD7DC57}" type="presParOf" srcId="{8C9CFF9B-8C20-45B6-9406-F0A1B374F4AE}" destId="{DDAA5AF4-51FE-4A30-8515-A4A9697D8490}" srcOrd="15" destOrd="0" presId="urn:microsoft.com/office/officeart/2005/8/layout/default"/>
    <dgm:cxn modelId="{F0E66FCA-05FF-4D1A-9818-EAA75006AE72}" type="presParOf" srcId="{8C9CFF9B-8C20-45B6-9406-F0A1B374F4AE}" destId="{A091219E-BB8A-4F6C-961B-050E0CBF8A6A}" srcOrd="16" destOrd="0" presId="urn:microsoft.com/office/officeart/2005/8/layout/default"/>
    <dgm:cxn modelId="{FE6B023E-6BBB-4E54-B164-A2C25978DD5F}" type="presParOf" srcId="{8C9CFF9B-8C20-45B6-9406-F0A1B374F4AE}" destId="{21F46D7F-B814-4961-92C9-06012C8A43DF}" srcOrd="17" destOrd="0" presId="urn:microsoft.com/office/officeart/2005/8/layout/default"/>
    <dgm:cxn modelId="{0629341A-FBF7-4E5D-B3E4-5BC82E34795C}" type="presParOf" srcId="{8C9CFF9B-8C20-45B6-9406-F0A1B374F4AE}" destId="{CFA56787-E959-4E7C-A592-3F54E949D8A4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143A6A-9F04-47C0-9C0C-346944F2B2A3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C984F35-15E3-4EFC-BAC9-1715E66FF7E2}">
      <dgm:prSet/>
      <dgm:spPr/>
      <dgm:t>
        <a:bodyPr/>
        <a:lstStyle/>
        <a:p>
          <a:r>
            <a:rPr lang="it-IT" b="1" i="0" baseline="0"/>
            <a:t>One-Hot Encoding</a:t>
          </a:r>
          <a:r>
            <a:rPr lang="it-IT" b="0" i="0" baseline="0"/>
            <a:t>: Transformed categorical variables into numerical format.</a:t>
          </a:r>
          <a:endParaRPr lang="en-US"/>
        </a:p>
      </dgm:t>
    </dgm:pt>
    <dgm:pt modelId="{D404E1B1-B503-444A-BFC7-4FEE1987D71A}" type="parTrans" cxnId="{1A0F0157-0FDE-402B-BC50-3F016691B535}">
      <dgm:prSet/>
      <dgm:spPr/>
      <dgm:t>
        <a:bodyPr/>
        <a:lstStyle/>
        <a:p>
          <a:endParaRPr lang="en-US"/>
        </a:p>
      </dgm:t>
    </dgm:pt>
    <dgm:pt modelId="{7FCCA965-DAA5-4EF3-9EE1-B6F8B906690D}" type="sibTrans" cxnId="{1A0F0157-0FDE-402B-BC50-3F016691B535}">
      <dgm:prSet/>
      <dgm:spPr/>
      <dgm:t>
        <a:bodyPr/>
        <a:lstStyle/>
        <a:p>
          <a:endParaRPr lang="en-US"/>
        </a:p>
      </dgm:t>
    </dgm:pt>
    <dgm:pt modelId="{7CF230E9-BD55-4948-9F8C-CA63A6CB65D6}">
      <dgm:prSet/>
      <dgm:spPr/>
      <dgm:t>
        <a:bodyPr/>
        <a:lstStyle/>
        <a:p>
          <a:r>
            <a:rPr lang="it-IT" b="1" i="0" baseline="0" dirty="0" err="1"/>
            <a:t>Multicollinearity</a:t>
          </a:r>
          <a:r>
            <a:rPr lang="it-IT" b="1" i="0" baseline="0" dirty="0"/>
            <a:t> Check</a:t>
          </a:r>
          <a:r>
            <a:rPr lang="it-IT" b="0" i="0" baseline="0" dirty="0"/>
            <a:t>:</a:t>
          </a:r>
          <a:endParaRPr lang="en-US" dirty="0"/>
        </a:p>
      </dgm:t>
    </dgm:pt>
    <dgm:pt modelId="{4A6FC4EF-71C3-44D3-9AAA-49FAF984DFDA}" type="parTrans" cxnId="{FE8ADFD0-5403-45D0-9FBD-A662CB476B9B}">
      <dgm:prSet/>
      <dgm:spPr/>
      <dgm:t>
        <a:bodyPr/>
        <a:lstStyle/>
        <a:p>
          <a:endParaRPr lang="en-US"/>
        </a:p>
      </dgm:t>
    </dgm:pt>
    <dgm:pt modelId="{0BD37FBA-4803-4183-BC02-0FAC6EE6BC59}" type="sibTrans" cxnId="{FE8ADFD0-5403-45D0-9FBD-A662CB476B9B}">
      <dgm:prSet/>
      <dgm:spPr/>
      <dgm:t>
        <a:bodyPr/>
        <a:lstStyle/>
        <a:p>
          <a:endParaRPr lang="en-US"/>
        </a:p>
      </dgm:t>
    </dgm:pt>
    <dgm:pt modelId="{B2D42C80-C241-4E1B-A4E6-9F0B30D26C7C}">
      <dgm:prSet/>
      <dgm:spPr/>
      <dgm:t>
        <a:bodyPr/>
        <a:lstStyle/>
        <a:p>
          <a:r>
            <a:rPr lang="it-IT" b="0" i="0" baseline="0"/>
            <a:t>Removed: Married, BankCustomer.</a:t>
          </a:r>
          <a:endParaRPr lang="en-US"/>
        </a:p>
      </dgm:t>
    </dgm:pt>
    <dgm:pt modelId="{98B0B9C6-98FF-4FC7-8676-7DD8D791E13F}" type="parTrans" cxnId="{FFFDCD5E-8F6A-4A8D-9949-FA4E589FB01D}">
      <dgm:prSet/>
      <dgm:spPr/>
      <dgm:t>
        <a:bodyPr/>
        <a:lstStyle/>
        <a:p>
          <a:endParaRPr lang="en-US"/>
        </a:p>
      </dgm:t>
    </dgm:pt>
    <dgm:pt modelId="{CDFCAC3A-8337-470F-889E-8A2B9DAB7A12}" type="sibTrans" cxnId="{FFFDCD5E-8F6A-4A8D-9949-FA4E589FB01D}">
      <dgm:prSet/>
      <dgm:spPr/>
      <dgm:t>
        <a:bodyPr/>
        <a:lstStyle/>
        <a:p>
          <a:endParaRPr lang="en-US"/>
        </a:p>
      </dgm:t>
    </dgm:pt>
    <dgm:pt modelId="{ED510B5C-ADE8-4170-907C-AB4B5C59CE33}">
      <dgm:prSet/>
      <dgm:spPr/>
      <dgm:t>
        <a:bodyPr/>
        <a:lstStyle/>
        <a:p>
          <a:r>
            <a:rPr lang="it-IT" b="1" i="0" baseline="0"/>
            <a:t>Highly Correlated Features</a:t>
          </a:r>
          <a:r>
            <a:rPr lang="it-IT" b="0" i="0" baseline="0"/>
            <a:t>:</a:t>
          </a:r>
          <a:endParaRPr lang="en-US"/>
        </a:p>
      </dgm:t>
    </dgm:pt>
    <dgm:pt modelId="{C61FE885-063B-49CA-9EDA-90B77106299A}" type="parTrans" cxnId="{BEEEE38E-C174-414A-B49C-A8569B58232B}">
      <dgm:prSet/>
      <dgm:spPr/>
      <dgm:t>
        <a:bodyPr/>
        <a:lstStyle/>
        <a:p>
          <a:endParaRPr lang="en-US"/>
        </a:p>
      </dgm:t>
    </dgm:pt>
    <dgm:pt modelId="{EB19B226-BCD1-4939-95EF-405682C6CEF6}" type="sibTrans" cxnId="{BEEEE38E-C174-414A-B49C-A8569B58232B}">
      <dgm:prSet/>
      <dgm:spPr/>
      <dgm:t>
        <a:bodyPr/>
        <a:lstStyle/>
        <a:p>
          <a:endParaRPr lang="en-US"/>
        </a:p>
      </dgm:t>
    </dgm:pt>
    <dgm:pt modelId="{FFBDE395-0E0F-4BD0-BCB5-DF5CF5C3CDC7}">
      <dgm:prSet/>
      <dgm:spPr/>
      <dgm:t>
        <a:bodyPr/>
        <a:lstStyle/>
        <a:p>
          <a:r>
            <a:rPr lang="it-IT" b="0" i="0" baseline="0"/>
            <a:t>Removed: Industry.Healthcare, Citizen.ByBirth.</a:t>
          </a:r>
          <a:endParaRPr lang="en-US"/>
        </a:p>
      </dgm:t>
    </dgm:pt>
    <dgm:pt modelId="{A2AD6FDE-5E9C-4F68-A4AB-8D901AE33E61}" type="parTrans" cxnId="{75CF02A9-CD66-4828-95C1-67C05D4E5EFC}">
      <dgm:prSet/>
      <dgm:spPr/>
      <dgm:t>
        <a:bodyPr/>
        <a:lstStyle/>
        <a:p>
          <a:endParaRPr lang="en-US"/>
        </a:p>
      </dgm:t>
    </dgm:pt>
    <dgm:pt modelId="{334C4DFF-D5DA-47B8-BA5E-7491F9733B61}" type="sibTrans" cxnId="{75CF02A9-CD66-4828-95C1-67C05D4E5EFC}">
      <dgm:prSet/>
      <dgm:spPr/>
      <dgm:t>
        <a:bodyPr/>
        <a:lstStyle/>
        <a:p>
          <a:endParaRPr lang="en-US"/>
        </a:p>
      </dgm:t>
    </dgm:pt>
    <dgm:pt modelId="{676270E7-3C4A-42E1-8276-91A27A4DDD57}">
      <dgm:prSet/>
      <dgm:spPr/>
      <dgm:t>
        <a:bodyPr/>
        <a:lstStyle/>
        <a:p>
          <a:r>
            <a:rPr lang="it-IT" b="1" i="0" baseline="0"/>
            <a:t>Aliased Variables</a:t>
          </a:r>
          <a:r>
            <a:rPr lang="it-IT" b="0" i="0" baseline="0"/>
            <a:t>:</a:t>
          </a:r>
          <a:endParaRPr lang="en-US"/>
        </a:p>
      </dgm:t>
    </dgm:pt>
    <dgm:pt modelId="{7270DA19-8804-4BF9-B88B-9FC0BB1D43A3}" type="parTrans" cxnId="{0AADF4C9-08CC-4F8D-AA2E-498BD94BFA1F}">
      <dgm:prSet/>
      <dgm:spPr/>
      <dgm:t>
        <a:bodyPr/>
        <a:lstStyle/>
        <a:p>
          <a:endParaRPr lang="en-US"/>
        </a:p>
      </dgm:t>
    </dgm:pt>
    <dgm:pt modelId="{FA5F9856-B1EE-4A70-8208-1A213BA39AE3}" type="sibTrans" cxnId="{0AADF4C9-08CC-4F8D-AA2E-498BD94BFA1F}">
      <dgm:prSet/>
      <dgm:spPr/>
      <dgm:t>
        <a:bodyPr/>
        <a:lstStyle/>
        <a:p>
          <a:endParaRPr lang="en-US"/>
        </a:p>
      </dgm:t>
    </dgm:pt>
    <dgm:pt modelId="{9CA55F84-D92F-4183-8BCA-4DE982E62B32}">
      <dgm:prSet/>
      <dgm:spPr/>
      <dgm:t>
        <a:bodyPr/>
        <a:lstStyle/>
        <a:p>
          <a:r>
            <a:rPr lang="it-IT" b="0" i="0" baseline="0"/>
            <a:t>Removed: Industry.Utilities, Ethnicity.White, Citizen.Temporary.</a:t>
          </a:r>
          <a:endParaRPr lang="en-US"/>
        </a:p>
      </dgm:t>
    </dgm:pt>
    <dgm:pt modelId="{B588E6F1-8792-49DE-AFFB-2462AAA1043F}" type="parTrans" cxnId="{6FAA9E7D-59B5-4B6A-AAF3-82FDF2916235}">
      <dgm:prSet/>
      <dgm:spPr/>
      <dgm:t>
        <a:bodyPr/>
        <a:lstStyle/>
        <a:p>
          <a:endParaRPr lang="en-US"/>
        </a:p>
      </dgm:t>
    </dgm:pt>
    <dgm:pt modelId="{29FF54A3-BE0D-4C06-8639-4DB13A1F618B}" type="sibTrans" cxnId="{6FAA9E7D-59B5-4B6A-AAF3-82FDF2916235}">
      <dgm:prSet/>
      <dgm:spPr/>
      <dgm:t>
        <a:bodyPr/>
        <a:lstStyle/>
        <a:p>
          <a:endParaRPr lang="en-US"/>
        </a:p>
      </dgm:t>
    </dgm:pt>
    <dgm:pt modelId="{434418B7-11A2-48F0-8846-867173537278}">
      <dgm:prSet/>
      <dgm:spPr/>
      <dgm:t>
        <a:bodyPr/>
        <a:lstStyle/>
        <a:p>
          <a:r>
            <a:rPr lang="it-IT" b="1" i="0" baseline="0" dirty="0"/>
            <a:t>VIF Analysis (VIF&gt;5 )</a:t>
          </a:r>
          <a:r>
            <a:rPr lang="it-IT" b="0" i="0" baseline="0" dirty="0"/>
            <a:t>:</a:t>
          </a:r>
          <a:endParaRPr lang="en-US" dirty="0"/>
        </a:p>
      </dgm:t>
    </dgm:pt>
    <dgm:pt modelId="{47D72EA2-4CE5-40AE-AC79-D2E8D894B58A}" type="parTrans" cxnId="{052B79AB-468D-4174-BB11-A8BAD25A00FC}">
      <dgm:prSet/>
      <dgm:spPr/>
      <dgm:t>
        <a:bodyPr/>
        <a:lstStyle/>
        <a:p>
          <a:endParaRPr lang="en-US"/>
        </a:p>
      </dgm:t>
    </dgm:pt>
    <dgm:pt modelId="{F810CFF8-55CF-436F-ACD2-72DD90B5D54A}" type="sibTrans" cxnId="{052B79AB-468D-4174-BB11-A8BAD25A00FC}">
      <dgm:prSet/>
      <dgm:spPr/>
      <dgm:t>
        <a:bodyPr/>
        <a:lstStyle/>
        <a:p>
          <a:endParaRPr lang="en-US"/>
        </a:p>
      </dgm:t>
    </dgm:pt>
    <dgm:pt modelId="{5688391C-1F89-4171-BB95-238F37870250}">
      <dgm:prSet/>
      <dgm:spPr/>
      <dgm:t>
        <a:bodyPr/>
        <a:lstStyle/>
        <a:p>
          <a:r>
            <a:rPr lang="it-IT" b="0" i="0" baseline="0"/>
            <a:t>Removed: Industry.Energy.</a:t>
          </a:r>
          <a:endParaRPr lang="en-US"/>
        </a:p>
      </dgm:t>
    </dgm:pt>
    <dgm:pt modelId="{487B8BF3-674A-482B-B7CB-4FC860FE0205}" type="parTrans" cxnId="{5E5098DF-E7C5-46E4-A10F-0692B97DAD12}">
      <dgm:prSet/>
      <dgm:spPr/>
      <dgm:t>
        <a:bodyPr/>
        <a:lstStyle/>
        <a:p>
          <a:endParaRPr lang="en-US"/>
        </a:p>
      </dgm:t>
    </dgm:pt>
    <dgm:pt modelId="{08E3A8A4-48F0-4395-9187-214C99422C4A}" type="sibTrans" cxnId="{5E5098DF-E7C5-46E4-A10F-0692B97DAD12}">
      <dgm:prSet/>
      <dgm:spPr/>
      <dgm:t>
        <a:bodyPr/>
        <a:lstStyle/>
        <a:p>
          <a:endParaRPr lang="en-US"/>
        </a:p>
      </dgm:t>
    </dgm:pt>
    <dgm:pt modelId="{83FF6D6D-22CF-4525-AB48-800AD01771B4}">
      <dgm:prSet/>
      <dgm:spPr/>
      <dgm:t>
        <a:bodyPr/>
        <a:lstStyle/>
        <a:p>
          <a:r>
            <a:rPr lang="it-IT" b="1" i="0" baseline="0" dirty="0"/>
            <a:t>Feature </a:t>
          </a:r>
          <a:r>
            <a:rPr lang="it-IT" b="1" i="0" baseline="0" dirty="0" err="1"/>
            <a:t>Selection</a:t>
          </a:r>
          <a:r>
            <a:rPr lang="it-IT" b="0" i="0" baseline="0" dirty="0"/>
            <a:t>: </a:t>
          </a:r>
          <a:r>
            <a:rPr lang="it-IT" b="0" i="0" baseline="0" dirty="0" err="1"/>
            <a:t>Retained</a:t>
          </a:r>
          <a:r>
            <a:rPr lang="it-IT" b="0" i="0" baseline="0" dirty="0"/>
            <a:t> key features:</a:t>
          </a:r>
          <a:endParaRPr lang="en-US" dirty="0"/>
        </a:p>
      </dgm:t>
    </dgm:pt>
    <dgm:pt modelId="{BAD157D9-77F5-4A9E-9769-C9231A9694DD}" type="parTrans" cxnId="{3117005C-92F3-4D26-9DB9-E0FF1AFD083D}">
      <dgm:prSet/>
      <dgm:spPr/>
      <dgm:t>
        <a:bodyPr/>
        <a:lstStyle/>
        <a:p>
          <a:endParaRPr lang="en-US"/>
        </a:p>
      </dgm:t>
    </dgm:pt>
    <dgm:pt modelId="{794B5A10-7E15-4426-8EE9-FC372B84DC5F}" type="sibTrans" cxnId="{3117005C-92F3-4D26-9DB9-E0FF1AFD083D}">
      <dgm:prSet/>
      <dgm:spPr/>
      <dgm:t>
        <a:bodyPr/>
        <a:lstStyle/>
        <a:p>
          <a:endParaRPr lang="en-US"/>
        </a:p>
      </dgm:t>
    </dgm:pt>
    <dgm:pt modelId="{18908D07-DF8D-4ECF-A35F-66E46147A0EA}">
      <dgm:prSet/>
      <dgm:spPr/>
      <dgm:t>
        <a:bodyPr/>
        <a:lstStyle/>
        <a:p>
          <a:r>
            <a:rPr lang="it-IT" b="0" i="0" baseline="0" dirty="0"/>
            <a:t>Gender, Age, </a:t>
          </a:r>
          <a:r>
            <a:rPr lang="it-IT" b="0" i="0" baseline="0" dirty="0" err="1"/>
            <a:t>Debt</a:t>
          </a:r>
          <a:r>
            <a:rPr lang="it-IT" b="0" i="0" baseline="0" dirty="0"/>
            <a:t>, </a:t>
          </a:r>
          <a:r>
            <a:rPr lang="it-IT" b="0" i="0" baseline="0" dirty="0" err="1"/>
            <a:t>YearsEmployed</a:t>
          </a:r>
          <a:r>
            <a:rPr lang="it-IT" b="0" i="0" baseline="0" dirty="0"/>
            <a:t>, </a:t>
          </a:r>
          <a:r>
            <a:rPr lang="it-IT" b="0" i="0" baseline="0" dirty="0" err="1"/>
            <a:t>PriorDefault</a:t>
          </a:r>
          <a:r>
            <a:rPr lang="it-IT" b="0" i="0" baseline="0" dirty="0"/>
            <a:t>, </a:t>
          </a:r>
          <a:r>
            <a:rPr lang="it-IT" b="0" i="0" baseline="0" dirty="0" err="1"/>
            <a:t>Employed</a:t>
          </a:r>
          <a:r>
            <a:rPr lang="it-IT" b="0" i="0" baseline="0" dirty="0"/>
            <a:t>, </a:t>
          </a:r>
          <a:r>
            <a:rPr lang="it-IT" b="0" i="0" baseline="0" dirty="0" err="1"/>
            <a:t>CreditScore</a:t>
          </a:r>
          <a:r>
            <a:rPr lang="it-IT" b="0" i="0" baseline="0" dirty="0"/>
            <a:t>, </a:t>
          </a:r>
          <a:r>
            <a:rPr lang="it-IT" b="0" i="0" baseline="0" dirty="0" err="1"/>
            <a:t>Income</a:t>
          </a:r>
          <a:r>
            <a:rPr lang="it-IT" b="0" i="0" baseline="0" dirty="0"/>
            <a:t>, </a:t>
          </a:r>
          <a:r>
            <a:rPr lang="it-IT" b="0" i="0" baseline="0" dirty="0" err="1"/>
            <a:t>Approved</a:t>
          </a:r>
          <a:r>
            <a:rPr lang="it-IT" b="0" i="0" baseline="0" dirty="0"/>
            <a:t>, </a:t>
          </a:r>
          <a:r>
            <a:rPr lang="it-IT" b="0" i="0" baseline="0" dirty="0" err="1"/>
            <a:t>Citizen.ByOtherMeans</a:t>
          </a:r>
          <a:r>
            <a:rPr lang="it-IT" b="0" i="0" baseline="0" dirty="0"/>
            <a:t>.</a:t>
          </a:r>
          <a:endParaRPr lang="en-US" dirty="0"/>
        </a:p>
      </dgm:t>
    </dgm:pt>
    <dgm:pt modelId="{50DAD9D8-A1AE-4FC4-97C0-41B2705B393C}" type="parTrans" cxnId="{5569A8AF-8AFA-4819-BAFA-9D2F8F99693E}">
      <dgm:prSet/>
      <dgm:spPr/>
      <dgm:t>
        <a:bodyPr/>
        <a:lstStyle/>
        <a:p>
          <a:endParaRPr lang="en-US"/>
        </a:p>
      </dgm:t>
    </dgm:pt>
    <dgm:pt modelId="{5900429C-F35D-44A0-81FE-05470FD27A88}" type="sibTrans" cxnId="{5569A8AF-8AFA-4819-BAFA-9D2F8F99693E}">
      <dgm:prSet/>
      <dgm:spPr/>
      <dgm:t>
        <a:bodyPr/>
        <a:lstStyle/>
        <a:p>
          <a:endParaRPr lang="en-US"/>
        </a:p>
      </dgm:t>
    </dgm:pt>
    <dgm:pt modelId="{463132A1-0686-474F-B091-592D98E3D3ED}" type="pres">
      <dgm:prSet presAssocID="{8F143A6A-9F04-47C0-9C0C-346944F2B2A3}" presName="diagram" presStyleCnt="0">
        <dgm:presLayoutVars>
          <dgm:dir/>
          <dgm:resizeHandles val="exact"/>
        </dgm:presLayoutVars>
      </dgm:prSet>
      <dgm:spPr/>
    </dgm:pt>
    <dgm:pt modelId="{F88F160D-E366-407F-BB7C-10E78967F263}" type="pres">
      <dgm:prSet presAssocID="{3C984F35-15E3-4EFC-BAC9-1715E66FF7E2}" presName="node" presStyleLbl="node1" presStyleIdx="0" presStyleCnt="11">
        <dgm:presLayoutVars>
          <dgm:bulletEnabled val="1"/>
        </dgm:presLayoutVars>
      </dgm:prSet>
      <dgm:spPr/>
    </dgm:pt>
    <dgm:pt modelId="{4CB93041-689E-4976-9CEE-CC26665478EA}" type="pres">
      <dgm:prSet presAssocID="{7FCCA965-DAA5-4EF3-9EE1-B6F8B906690D}" presName="sibTrans" presStyleCnt="0"/>
      <dgm:spPr/>
    </dgm:pt>
    <dgm:pt modelId="{E9A8334F-FF70-491D-8FCF-2ADF00CA4562}" type="pres">
      <dgm:prSet presAssocID="{7CF230E9-BD55-4948-9F8C-CA63A6CB65D6}" presName="node" presStyleLbl="node1" presStyleIdx="1" presStyleCnt="11">
        <dgm:presLayoutVars>
          <dgm:bulletEnabled val="1"/>
        </dgm:presLayoutVars>
      </dgm:prSet>
      <dgm:spPr/>
    </dgm:pt>
    <dgm:pt modelId="{772947FA-3014-4B3F-ABB1-EBD57661B6B1}" type="pres">
      <dgm:prSet presAssocID="{0BD37FBA-4803-4183-BC02-0FAC6EE6BC59}" presName="sibTrans" presStyleCnt="0"/>
      <dgm:spPr/>
    </dgm:pt>
    <dgm:pt modelId="{77C334F2-D1F0-4018-A189-91A2B8028DFA}" type="pres">
      <dgm:prSet presAssocID="{B2D42C80-C241-4E1B-A4E6-9F0B30D26C7C}" presName="node" presStyleLbl="node1" presStyleIdx="2" presStyleCnt="11">
        <dgm:presLayoutVars>
          <dgm:bulletEnabled val="1"/>
        </dgm:presLayoutVars>
      </dgm:prSet>
      <dgm:spPr/>
    </dgm:pt>
    <dgm:pt modelId="{9B4AD8C0-1D00-4C70-B5B6-AEE6C5184E14}" type="pres">
      <dgm:prSet presAssocID="{CDFCAC3A-8337-470F-889E-8A2B9DAB7A12}" presName="sibTrans" presStyleCnt="0"/>
      <dgm:spPr/>
    </dgm:pt>
    <dgm:pt modelId="{015D3E03-18C7-4AD0-8EE0-59AC9D9D1B8B}" type="pres">
      <dgm:prSet presAssocID="{ED510B5C-ADE8-4170-907C-AB4B5C59CE33}" presName="node" presStyleLbl="node1" presStyleIdx="3" presStyleCnt="11">
        <dgm:presLayoutVars>
          <dgm:bulletEnabled val="1"/>
        </dgm:presLayoutVars>
      </dgm:prSet>
      <dgm:spPr/>
    </dgm:pt>
    <dgm:pt modelId="{EE1B30E4-9CD2-4940-B8EA-C720974994A3}" type="pres">
      <dgm:prSet presAssocID="{EB19B226-BCD1-4939-95EF-405682C6CEF6}" presName="sibTrans" presStyleCnt="0"/>
      <dgm:spPr/>
    </dgm:pt>
    <dgm:pt modelId="{229C3B93-4F12-4DA8-A9FB-D8C38DD4E6D9}" type="pres">
      <dgm:prSet presAssocID="{FFBDE395-0E0F-4BD0-BCB5-DF5CF5C3CDC7}" presName="node" presStyleLbl="node1" presStyleIdx="4" presStyleCnt="11">
        <dgm:presLayoutVars>
          <dgm:bulletEnabled val="1"/>
        </dgm:presLayoutVars>
      </dgm:prSet>
      <dgm:spPr/>
    </dgm:pt>
    <dgm:pt modelId="{B5A4D950-1175-48FE-B465-9310305CCB33}" type="pres">
      <dgm:prSet presAssocID="{334C4DFF-D5DA-47B8-BA5E-7491F9733B61}" presName="sibTrans" presStyleCnt="0"/>
      <dgm:spPr/>
    </dgm:pt>
    <dgm:pt modelId="{45588A53-5EEA-4CB0-8E8D-31CA54569B9A}" type="pres">
      <dgm:prSet presAssocID="{676270E7-3C4A-42E1-8276-91A27A4DDD57}" presName="node" presStyleLbl="node1" presStyleIdx="5" presStyleCnt="11">
        <dgm:presLayoutVars>
          <dgm:bulletEnabled val="1"/>
        </dgm:presLayoutVars>
      </dgm:prSet>
      <dgm:spPr/>
    </dgm:pt>
    <dgm:pt modelId="{A538E78C-E385-44AA-B80E-C7F5B5F54846}" type="pres">
      <dgm:prSet presAssocID="{FA5F9856-B1EE-4A70-8208-1A213BA39AE3}" presName="sibTrans" presStyleCnt="0"/>
      <dgm:spPr/>
    </dgm:pt>
    <dgm:pt modelId="{8B2E7739-D462-445E-9A91-D11D72528942}" type="pres">
      <dgm:prSet presAssocID="{9CA55F84-D92F-4183-8BCA-4DE982E62B32}" presName="node" presStyleLbl="node1" presStyleIdx="6" presStyleCnt="11">
        <dgm:presLayoutVars>
          <dgm:bulletEnabled val="1"/>
        </dgm:presLayoutVars>
      </dgm:prSet>
      <dgm:spPr/>
    </dgm:pt>
    <dgm:pt modelId="{98342F7A-5D00-4CB5-B39B-AD2C1BAB10BD}" type="pres">
      <dgm:prSet presAssocID="{29FF54A3-BE0D-4C06-8639-4DB13A1F618B}" presName="sibTrans" presStyleCnt="0"/>
      <dgm:spPr/>
    </dgm:pt>
    <dgm:pt modelId="{53341B23-CBC5-4FE2-B6F4-B706959D0964}" type="pres">
      <dgm:prSet presAssocID="{434418B7-11A2-48F0-8846-867173537278}" presName="node" presStyleLbl="node1" presStyleIdx="7" presStyleCnt="11">
        <dgm:presLayoutVars>
          <dgm:bulletEnabled val="1"/>
        </dgm:presLayoutVars>
      </dgm:prSet>
      <dgm:spPr/>
    </dgm:pt>
    <dgm:pt modelId="{3E97799F-BC49-41B1-88A2-E392C13AC79D}" type="pres">
      <dgm:prSet presAssocID="{F810CFF8-55CF-436F-ACD2-72DD90B5D54A}" presName="sibTrans" presStyleCnt="0"/>
      <dgm:spPr/>
    </dgm:pt>
    <dgm:pt modelId="{726F0373-9787-4358-87C0-E3652165FF68}" type="pres">
      <dgm:prSet presAssocID="{5688391C-1F89-4171-BB95-238F37870250}" presName="node" presStyleLbl="node1" presStyleIdx="8" presStyleCnt="11">
        <dgm:presLayoutVars>
          <dgm:bulletEnabled val="1"/>
        </dgm:presLayoutVars>
      </dgm:prSet>
      <dgm:spPr/>
    </dgm:pt>
    <dgm:pt modelId="{458848E1-1E08-499E-B771-A01DC0ED4ACD}" type="pres">
      <dgm:prSet presAssocID="{08E3A8A4-48F0-4395-9187-214C99422C4A}" presName="sibTrans" presStyleCnt="0"/>
      <dgm:spPr/>
    </dgm:pt>
    <dgm:pt modelId="{17DCD0A4-5F3A-4519-AD8F-E4BEF9AE7265}" type="pres">
      <dgm:prSet presAssocID="{83FF6D6D-22CF-4525-AB48-800AD01771B4}" presName="node" presStyleLbl="node1" presStyleIdx="9" presStyleCnt="11">
        <dgm:presLayoutVars>
          <dgm:bulletEnabled val="1"/>
        </dgm:presLayoutVars>
      </dgm:prSet>
      <dgm:spPr/>
    </dgm:pt>
    <dgm:pt modelId="{D99F23A5-82FD-40A4-9F98-4CC9A0449565}" type="pres">
      <dgm:prSet presAssocID="{794B5A10-7E15-4426-8EE9-FC372B84DC5F}" presName="sibTrans" presStyleCnt="0"/>
      <dgm:spPr/>
    </dgm:pt>
    <dgm:pt modelId="{09E6D344-7D46-43CD-A180-7F8B34964363}" type="pres">
      <dgm:prSet presAssocID="{18908D07-DF8D-4ECF-A35F-66E46147A0EA}" presName="node" presStyleLbl="node1" presStyleIdx="10" presStyleCnt="11">
        <dgm:presLayoutVars>
          <dgm:bulletEnabled val="1"/>
        </dgm:presLayoutVars>
      </dgm:prSet>
      <dgm:spPr/>
    </dgm:pt>
  </dgm:ptLst>
  <dgm:cxnLst>
    <dgm:cxn modelId="{A9A6FE0E-0E18-4A0B-A3EE-B1A5BACCE682}" type="presOf" srcId="{83FF6D6D-22CF-4525-AB48-800AD01771B4}" destId="{17DCD0A4-5F3A-4519-AD8F-E4BEF9AE7265}" srcOrd="0" destOrd="0" presId="urn:microsoft.com/office/officeart/2005/8/layout/default"/>
    <dgm:cxn modelId="{94226E32-75D7-4F7A-8A79-2B20261A717B}" type="presOf" srcId="{FFBDE395-0E0F-4BD0-BCB5-DF5CF5C3CDC7}" destId="{229C3B93-4F12-4DA8-A9FB-D8C38DD4E6D9}" srcOrd="0" destOrd="0" presId="urn:microsoft.com/office/officeart/2005/8/layout/default"/>
    <dgm:cxn modelId="{150D4C34-9B66-4C17-94E6-67A98950B5E8}" type="presOf" srcId="{18908D07-DF8D-4ECF-A35F-66E46147A0EA}" destId="{09E6D344-7D46-43CD-A180-7F8B34964363}" srcOrd="0" destOrd="0" presId="urn:microsoft.com/office/officeart/2005/8/layout/default"/>
    <dgm:cxn modelId="{3117005C-92F3-4D26-9DB9-E0FF1AFD083D}" srcId="{8F143A6A-9F04-47C0-9C0C-346944F2B2A3}" destId="{83FF6D6D-22CF-4525-AB48-800AD01771B4}" srcOrd="9" destOrd="0" parTransId="{BAD157D9-77F5-4A9E-9769-C9231A9694DD}" sibTransId="{794B5A10-7E15-4426-8EE9-FC372B84DC5F}"/>
    <dgm:cxn modelId="{3F68AD5D-C834-4052-897C-DD5E7DD281CA}" type="presOf" srcId="{B2D42C80-C241-4E1B-A4E6-9F0B30D26C7C}" destId="{77C334F2-D1F0-4018-A189-91A2B8028DFA}" srcOrd="0" destOrd="0" presId="urn:microsoft.com/office/officeart/2005/8/layout/default"/>
    <dgm:cxn modelId="{FFFDCD5E-8F6A-4A8D-9949-FA4E589FB01D}" srcId="{8F143A6A-9F04-47C0-9C0C-346944F2B2A3}" destId="{B2D42C80-C241-4E1B-A4E6-9F0B30D26C7C}" srcOrd="2" destOrd="0" parTransId="{98B0B9C6-98FF-4FC7-8676-7DD8D791E13F}" sibTransId="{CDFCAC3A-8337-470F-889E-8A2B9DAB7A12}"/>
    <dgm:cxn modelId="{75D4DC4B-9141-45C8-9831-92CB8ED0560E}" type="presOf" srcId="{9CA55F84-D92F-4183-8BCA-4DE982E62B32}" destId="{8B2E7739-D462-445E-9A91-D11D72528942}" srcOrd="0" destOrd="0" presId="urn:microsoft.com/office/officeart/2005/8/layout/default"/>
    <dgm:cxn modelId="{71A91C6D-C0E7-4D5A-AF17-897D711F4773}" type="presOf" srcId="{5688391C-1F89-4171-BB95-238F37870250}" destId="{726F0373-9787-4358-87C0-E3652165FF68}" srcOrd="0" destOrd="0" presId="urn:microsoft.com/office/officeart/2005/8/layout/default"/>
    <dgm:cxn modelId="{1A0F0157-0FDE-402B-BC50-3F016691B535}" srcId="{8F143A6A-9F04-47C0-9C0C-346944F2B2A3}" destId="{3C984F35-15E3-4EFC-BAC9-1715E66FF7E2}" srcOrd="0" destOrd="0" parTransId="{D404E1B1-B503-444A-BFC7-4FEE1987D71A}" sibTransId="{7FCCA965-DAA5-4EF3-9EE1-B6F8B906690D}"/>
    <dgm:cxn modelId="{C57D8077-5B77-4C5E-B94E-9282F8582092}" type="presOf" srcId="{434418B7-11A2-48F0-8846-867173537278}" destId="{53341B23-CBC5-4FE2-B6F4-B706959D0964}" srcOrd="0" destOrd="0" presId="urn:microsoft.com/office/officeart/2005/8/layout/default"/>
    <dgm:cxn modelId="{6FAA9E7D-59B5-4B6A-AAF3-82FDF2916235}" srcId="{8F143A6A-9F04-47C0-9C0C-346944F2B2A3}" destId="{9CA55F84-D92F-4183-8BCA-4DE982E62B32}" srcOrd="6" destOrd="0" parTransId="{B588E6F1-8792-49DE-AFFB-2462AAA1043F}" sibTransId="{29FF54A3-BE0D-4C06-8639-4DB13A1F618B}"/>
    <dgm:cxn modelId="{49E73683-EA0C-402F-8193-18FCC6BBE400}" type="presOf" srcId="{676270E7-3C4A-42E1-8276-91A27A4DDD57}" destId="{45588A53-5EEA-4CB0-8E8D-31CA54569B9A}" srcOrd="0" destOrd="0" presId="urn:microsoft.com/office/officeart/2005/8/layout/default"/>
    <dgm:cxn modelId="{D663D08E-C56E-424B-8B07-314069906B9A}" type="presOf" srcId="{8F143A6A-9F04-47C0-9C0C-346944F2B2A3}" destId="{463132A1-0686-474F-B091-592D98E3D3ED}" srcOrd="0" destOrd="0" presId="urn:microsoft.com/office/officeart/2005/8/layout/default"/>
    <dgm:cxn modelId="{BEEEE38E-C174-414A-B49C-A8569B58232B}" srcId="{8F143A6A-9F04-47C0-9C0C-346944F2B2A3}" destId="{ED510B5C-ADE8-4170-907C-AB4B5C59CE33}" srcOrd="3" destOrd="0" parTransId="{C61FE885-063B-49CA-9EDA-90B77106299A}" sibTransId="{EB19B226-BCD1-4939-95EF-405682C6CEF6}"/>
    <dgm:cxn modelId="{DB56CA90-7610-4480-AF16-5B1C44AD9DB2}" type="presOf" srcId="{3C984F35-15E3-4EFC-BAC9-1715E66FF7E2}" destId="{F88F160D-E366-407F-BB7C-10E78967F263}" srcOrd="0" destOrd="0" presId="urn:microsoft.com/office/officeart/2005/8/layout/default"/>
    <dgm:cxn modelId="{78163999-9CA9-430B-A075-FC8F23610182}" type="presOf" srcId="{7CF230E9-BD55-4948-9F8C-CA63A6CB65D6}" destId="{E9A8334F-FF70-491D-8FCF-2ADF00CA4562}" srcOrd="0" destOrd="0" presId="urn:microsoft.com/office/officeart/2005/8/layout/default"/>
    <dgm:cxn modelId="{B071E5A1-2631-4089-9C12-A5D7CF9442FF}" type="presOf" srcId="{ED510B5C-ADE8-4170-907C-AB4B5C59CE33}" destId="{015D3E03-18C7-4AD0-8EE0-59AC9D9D1B8B}" srcOrd="0" destOrd="0" presId="urn:microsoft.com/office/officeart/2005/8/layout/default"/>
    <dgm:cxn modelId="{75CF02A9-CD66-4828-95C1-67C05D4E5EFC}" srcId="{8F143A6A-9F04-47C0-9C0C-346944F2B2A3}" destId="{FFBDE395-0E0F-4BD0-BCB5-DF5CF5C3CDC7}" srcOrd="4" destOrd="0" parTransId="{A2AD6FDE-5E9C-4F68-A4AB-8D901AE33E61}" sibTransId="{334C4DFF-D5DA-47B8-BA5E-7491F9733B61}"/>
    <dgm:cxn modelId="{052B79AB-468D-4174-BB11-A8BAD25A00FC}" srcId="{8F143A6A-9F04-47C0-9C0C-346944F2B2A3}" destId="{434418B7-11A2-48F0-8846-867173537278}" srcOrd="7" destOrd="0" parTransId="{47D72EA2-4CE5-40AE-AC79-D2E8D894B58A}" sibTransId="{F810CFF8-55CF-436F-ACD2-72DD90B5D54A}"/>
    <dgm:cxn modelId="{5569A8AF-8AFA-4819-BAFA-9D2F8F99693E}" srcId="{8F143A6A-9F04-47C0-9C0C-346944F2B2A3}" destId="{18908D07-DF8D-4ECF-A35F-66E46147A0EA}" srcOrd="10" destOrd="0" parTransId="{50DAD9D8-A1AE-4FC4-97C0-41B2705B393C}" sibTransId="{5900429C-F35D-44A0-81FE-05470FD27A88}"/>
    <dgm:cxn modelId="{0AADF4C9-08CC-4F8D-AA2E-498BD94BFA1F}" srcId="{8F143A6A-9F04-47C0-9C0C-346944F2B2A3}" destId="{676270E7-3C4A-42E1-8276-91A27A4DDD57}" srcOrd="5" destOrd="0" parTransId="{7270DA19-8804-4BF9-B88B-9FC0BB1D43A3}" sibTransId="{FA5F9856-B1EE-4A70-8208-1A213BA39AE3}"/>
    <dgm:cxn modelId="{FE8ADFD0-5403-45D0-9FBD-A662CB476B9B}" srcId="{8F143A6A-9F04-47C0-9C0C-346944F2B2A3}" destId="{7CF230E9-BD55-4948-9F8C-CA63A6CB65D6}" srcOrd="1" destOrd="0" parTransId="{4A6FC4EF-71C3-44D3-9AAA-49FAF984DFDA}" sibTransId="{0BD37FBA-4803-4183-BC02-0FAC6EE6BC59}"/>
    <dgm:cxn modelId="{5E5098DF-E7C5-46E4-A10F-0692B97DAD12}" srcId="{8F143A6A-9F04-47C0-9C0C-346944F2B2A3}" destId="{5688391C-1F89-4171-BB95-238F37870250}" srcOrd="8" destOrd="0" parTransId="{487B8BF3-674A-482B-B7CB-4FC860FE0205}" sibTransId="{08E3A8A4-48F0-4395-9187-214C99422C4A}"/>
    <dgm:cxn modelId="{98094240-3760-42B6-8A61-4DA9A0A71A75}" type="presParOf" srcId="{463132A1-0686-474F-B091-592D98E3D3ED}" destId="{F88F160D-E366-407F-BB7C-10E78967F263}" srcOrd="0" destOrd="0" presId="urn:microsoft.com/office/officeart/2005/8/layout/default"/>
    <dgm:cxn modelId="{DB9E30DA-1ECF-4913-BC59-29521DF8ADDC}" type="presParOf" srcId="{463132A1-0686-474F-B091-592D98E3D3ED}" destId="{4CB93041-689E-4976-9CEE-CC26665478EA}" srcOrd="1" destOrd="0" presId="urn:microsoft.com/office/officeart/2005/8/layout/default"/>
    <dgm:cxn modelId="{04DFA47D-EFF6-4400-B9FB-B5356758E792}" type="presParOf" srcId="{463132A1-0686-474F-B091-592D98E3D3ED}" destId="{E9A8334F-FF70-491D-8FCF-2ADF00CA4562}" srcOrd="2" destOrd="0" presId="urn:microsoft.com/office/officeart/2005/8/layout/default"/>
    <dgm:cxn modelId="{3746C19A-A7E3-417B-8419-80BA6B7147DE}" type="presParOf" srcId="{463132A1-0686-474F-B091-592D98E3D3ED}" destId="{772947FA-3014-4B3F-ABB1-EBD57661B6B1}" srcOrd="3" destOrd="0" presId="urn:microsoft.com/office/officeart/2005/8/layout/default"/>
    <dgm:cxn modelId="{3B7C951E-AF0B-47C9-9289-5AC4F4196989}" type="presParOf" srcId="{463132A1-0686-474F-B091-592D98E3D3ED}" destId="{77C334F2-D1F0-4018-A189-91A2B8028DFA}" srcOrd="4" destOrd="0" presId="urn:microsoft.com/office/officeart/2005/8/layout/default"/>
    <dgm:cxn modelId="{FCBC31A4-691D-4A4A-93AA-F0F089ADD4FF}" type="presParOf" srcId="{463132A1-0686-474F-B091-592D98E3D3ED}" destId="{9B4AD8C0-1D00-4C70-B5B6-AEE6C5184E14}" srcOrd="5" destOrd="0" presId="urn:microsoft.com/office/officeart/2005/8/layout/default"/>
    <dgm:cxn modelId="{11F84A06-29C7-492B-B65A-D5D2863D3781}" type="presParOf" srcId="{463132A1-0686-474F-B091-592D98E3D3ED}" destId="{015D3E03-18C7-4AD0-8EE0-59AC9D9D1B8B}" srcOrd="6" destOrd="0" presId="urn:microsoft.com/office/officeart/2005/8/layout/default"/>
    <dgm:cxn modelId="{C362545D-4037-455C-97F0-CB41A2D0E02A}" type="presParOf" srcId="{463132A1-0686-474F-B091-592D98E3D3ED}" destId="{EE1B30E4-9CD2-4940-B8EA-C720974994A3}" srcOrd="7" destOrd="0" presId="urn:microsoft.com/office/officeart/2005/8/layout/default"/>
    <dgm:cxn modelId="{98463824-B03E-4114-B4B7-3D2B8BC231A2}" type="presParOf" srcId="{463132A1-0686-474F-B091-592D98E3D3ED}" destId="{229C3B93-4F12-4DA8-A9FB-D8C38DD4E6D9}" srcOrd="8" destOrd="0" presId="urn:microsoft.com/office/officeart/2005/8/layout/default"/>
    <dgm:cxn modelId="{C5F876CC-AF45-445B-99A9-A943428D760C}" type="presParOf" srcId="{463132A1-0686-474F-B091-592D98E3D3ED}" destId="{B5A4D950-1175-48FE-B465-9310305CCB33}" srcOrd="9" destOrd="0" presId="urn:microsoft.com/office/officeart/2005/8/layout/default"/>
    <dgm:cxn modelId="{47ED2421-AD3E-4E87-B22C-78A38076677B}" type="presParOf" srcId="{463132A1-0686-474F-B091-592D98E3D3ED}" destId="{45588A53-5EEA-4CB0-8E8D-31CA54569B9A}" srcOrd="10" destOrd="0" presId="urn:microsoft.com/office/officeart/2005/8/layout/default"/>
    <dgm:cxn modelId="{BDDF05CF-1C6B-4180-89D3-6A3AD2372BBE}" type="presParOf" srcId="{463132A1-0686-474F-B091-592D98E3D3ED}" destId="{A538E78C-E385-44AA-B80E-C7F5B5F54846}" srcOrd="11" destOrd="0" presId="urn:microsoft.com/office/officeart/2005/8/layout/default"/>
    <dgm:cxn modelId="{C658A3B6-A63D-4473-A768-2DDD6820D626}" type="presParOf" srcId="{463132A1-0686-474F-B091-592D98E3D3ED}" destId="{8B2E7739-D462-445E-9A91-D11D72528942}" srcOrd="12" destOrd="0" presId="urn:microsoft.com/office/officeart/2005/8/layout/default"/>
    <dgm:cxn modelId="{01DB71F9-E465-48BE-850D-A6751C0DCF84}" type="presParOf" srcId="{463132A1-0686-474F-B091-592D98E3D3ED}" destId="{98342F7A-5D00-4CB5-B39B-AD2C1BAB10BD}" srcOrd="13" destOrd="0" presId="urn:microsoft.com/office/officeart/2005/8/layout/default"/>
    <dgm:cxn modelId="{0BFAB843-9040-4004-8228-964B8EA57701}" type="presParOf" srcId="{463132A1-0686-474F-B091-592D98E3D3ED}" destId="{53341B23-CBC5-4FE2-B6F4-B706959D0964}" srcOrd="14" destOrd="0" presId="urn:microsoft.com/office/officeart/2005/8/layout/default"/>
    <dgm:cxn modelId="{2E451979-7E0E-45FB-8DD4-6D845DFFCF38}" type="presParOf" srcId="{463132A1-0686-474F-B091-592D98E3D3ED}" destId="{3E97799F-BC49-41B1-88A2-E392C13AC79D}" srcOrd="15" destOrd="0" presId="urn:microsoft.com/office/officeart/2005/8/layout/default"/>
    <dgm:cxn modelId="{A35F46B3-EAF9-4812-8F34-02D3F1C07745}" type="presParOf" srcId="{463132A1-0686-474F-B091-592D98E3D3ED}" destId="{726F0373-9787-4358-87C0-E3652165FF68}" srcOrd="16" destOrd="0" presId="urn:microsoft.com/office/officeart/2005/8/layout/default"/>
    <dgm:cxn modelId="{AED8E0AB-9A7D-450E-B4D7-6480411ABE44}" type="presParOf" srcId="{463132A1-0686-474F-B091-592D98E3D3ED}" destId="{458848E1-1E08-499E-B771-A01DC0ED4ACD}" srcOrd="17" destOrd="0" presId="urn:microsoft.com/office/officeart/2005/8/layout/default"/>
    <dgm:cxn modelId="{905865A6-3A8A-4C46-A0E2-104C8E511EAB}" type="presParOf" srcId="{463132A1-0686-474F-B091-592D98E3D3ED}" destId="{17DCD0A4-5F3A-4519-AD8F-E4BEF9AE7265}" srcOrd="18" destOrd="0" presId="urn:microsoft.com/office/officeart/2005/8/layout/default"/>
    <dgm:cxn modelId="{FA7B4A84-CE8B-4382-879D-2CFC40F6E254}" type="presParOf" srcId="{463132A1-0686-474F-B091-592D98E3D3ED}" destId="{D99F23A5-82FD-40A4-9F98-4CC9A0449565}" srcOrd="19" destOrd="0" presId="urn:microsoft.com/office/officeart/2005/8/layout/default"/>
    <dgm:cxn modelId="{68C8E3EC-CD82-4E33-ABF6-616AC4DFED07}" type="presParOf" srcId="{463132A1-0686-474F-B091-592D98E3D3ED}" destId="{09E6D344-7D46-43CD-A180-7F8B34964363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43F34-AA4F-40CA-8A89-BC33ACFB59AE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/>
            <a:t>Phase 1: Unsupervised Learning</a:t>
          </a:r>
          <a:endParaRPr lang="en-US" sz="1600" kern="1200"/>
        </a:p>
      </dsp:txBody>
      <dsp:txXfrm>
        <a:off x="582645" y="1178"/>
        <a:ext cx="2174490" cy="1304694"/>
      </dsp:txXfrm>
    </dsp:sp>
    <dsp:sp modelId="{51E1512C-CA07-48FC-BF57-23CB9890ECFE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/>
            <a:t>Multicollinearity Check</a:t>
          </a:r>
          <a:r>
            <a:rPr lang="it-IT" sz="1600" kern="1200"/>
            <a:t>: Remove highly correlated features.</a:t>
          </a:r>
          <a:endParaRPr lang="en-US" sz="1600" kern="1200"/>
        </a:p>
      </dsp:txBody>
      <dsp:txXfrm>
        <a:off x="2974584" y="1178"/>
        <a:ext cx="2174490" cy="1304694"/>
      </dsp:txXfrm>
    </dsp:sp>
    <dsp:sp modelId="{A483C7A2-9D8A-44FA-8A54-74694C808143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/>
            <a:t>PCA</a:t>
          </a:r>
          <a:r>
            <a:rPr lang="it-IT" sz="1600" kern="1200"/>
            <a:t>: Dimensionality reduction (retain variance).</a:t>
          </a:r>
          <a:endParaRPr lang="en-US" sz="1600" kern="1200"/>
        </a:p>
      </dsp:txBody>
      <dsp:txXfrm>
        <a:off x="5366524" y="1178"/>
        <a:ext cx="2174490" cy="1304694"/>
      </dsp:txXfrm>
    </dsp:sp>
    <dsp:sp modelId="{0AFDF349-5860-46D4-80C2-B20F17749DA3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/>
            <a:t>Hierarchical Clustering</a:t>
          </a:r>
          <a:r>
            <a:rPr lang="it-IT" sz="1600" kern="1200"/>
            <a:t>: Uncover natural groupings.</a:t>
          </a:r>
          <a:endParaRPr lang="en-US" sz="1600" kern="1200"/>
        </a:p>
      </dsp:txBody>
      <dsp:txXfrm>
        <a:off x="7758464" y="1178"/>
        <a:ext cx="2174490" cy="1304694"/>
      </dsp:txXfrm>
    </dsp:sp>
    <dsp:sp modelId="{4A64EA7C-5D40-49D2-BD6D-6554374C666B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/>
            <a:t>t-SNE &amp; UMAP</a:t>
          </a:r>
          <a:r>
            <a:rPr lang="it-IT" sz="1600" kern="1200"/>
            <a:t>: Visualize high-dimensional data in 2D</a:t>
          </a:r>
          <a:endParaRPr lang="en-US" sz="1600" kern="1200"/>
        </a:p>
      </dsp:txBody>
      <dsp:txXfrm>
        <a:off x="582645" y="1523321"/>
        <a:ext cx="2174490" cy="1304694"/>
      </dsp:txXfrm>
    </dsp:sp>
    <dsp:sp modelId="{20CDF121-5A08-4BAE-B12C-C37945F3C914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Phase 2: Supervised Learning</a:t>
          </a:r>
          <a:endParaRPr lang="en-US" sz="1600" kern="1200"/>
        </a:p>
      </dsp:txBody>
      <dsp:txXfrm>
        <a:off x="2974584" y="1523321"/>
        <a:ext cx="2174490" cy="1304694"/>
      </dsp:txXfrm>
    </dsp:sp>
    <dsp:sp modelId="{778C8810-FAD1-4066-BF22-D42B7F34219D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Logistic Regression (Elastic Net): Feature selection + robust modeling</a:t>
          </a:r>
        </a:p>
      </dsp:txBody>
      <dsp:txXfrm>
        <a:off x="5366524" y="1523321"/>
        <a:ext cx="2174490" cy="1304694"/>
      </dsp:txXfrm>
    </dsp:sp>
    <dsp:sp modelId="{24556D1A-EC55-47B2-8F10-D90E8F9903A8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Random Forest</a:t>
          </a:r>
          <a:r>
            <a:rPr lang="en-US" sz="1600" kern="1200"/>
            <a:t>: Capture non-linear relationships, evaluate feature importance</a:t>
          </a:r>
        </a:p>
      </dsp:txBody>
      <dsp:txXfrm>
        <a:off x="7758464" y="1523321"/>
        <a:ext cx="2174490" cy="1304694"/>
      </dsp:txXfrm>
    </dsp:sp>
    <dsp:sp modelId="{A091219E-BB8A-4F6C-961B-050E0CBF8A6A}">
      <dsp:nvSpPr>
        <dsp:cNvPr id="0" name=""/>
        <dsp:cNvSpPr/>
      </dsp:nvSpPr>
      <dsp:spPr>
        <a:xfrm>
          <a:off x="2974584" y="3045465"/>
          <a:ext cx="2174490" cy="1304694"/>
        </a:xfrm>
        <a:prstGeom prst="rect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XGBoost</a:t>
          </a:r>
          <a:r>
            <a:rPr lang="en-US" sz="1600" kern="1200"/>
            <a:t>: Boosting for high-dimensional performance</a:t>
          </a:r>
        </a:p>
      </dsp:txBody>
      <dsp:txXfrm>
        <a:off x="2974584" y="3045465"/>
        <a:ext cx="2174490" cy="1304694"/>
      </dsp:txXfrm>
    </dsp:sp>
    <dsp:sp modelId="{CFA56787-E959-4E7C-A592-3F54E949D8A4}">
      <dsp:nvSpPr>
        <dsp:cNvPr id="0" name=""/>
        <dsp:cNvSpPr/>
      </dsp:nvSpPr>
      <dsp:spPr>
        <a:xfrm>
          <a:off x="5366524" y="3045465"/>
          <a:ext cx="2174490" cy="1304694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Neural Network</a:t>
          </a:r>
          <a:r>
            <a:rPr lang="en-US" sz="1600" kern="1200"/>
            <a:t>: Deep learning with cross-validation.</a:t>
          </a:r>
        </a:p>
      </dsp:txBody>
      <dsp:txXfrm>
        <a:off x="5366524" y="3045465"/>
        <a:ext cx="2174490" cy="13046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F160D-E366-407F-BB7C-10E78967F263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0" kern="1200" baseline="0"/>
            <a:t>One-Hot Encoding</a:t>
          </a:r>
          <a:r>
            <a:rPr lang="it-IT" sz="1400" b="0" i="0" kern="1200" baseline="0"/>
            <a:t>: Transformed categorical variables into numerical format.</a:t>
          </a:r>
          <a:endParaRPr lang="en-US" sz="1400" kern="1200"/>
        </a:p>
      </dsp:txBody>
      <dsp:txXfrm>
        <a:off x="582645" y="1178"/>
        <a:ext cx="2174490" cy="1304694"/>
      </dsp:txXfrm>
    </dsp:sp>
    <dsp:sp modelId="{E9A8334F-FF70-491D-8FCF-2ADF00CA4562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644361"/>
                <a:satOff val="-1849"/>
                <a:lumOff val="-2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"/>
                <a:satOff val="-1849"/>
                <a:lumOff val="-2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"/>
                <a:satOff val="-1849"/>
                <a:lumOff val="-2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0" kern="1200" baseline="0" dirty="0" err="1"/>
            <a:t>Multicollinearity</a:t>
          </a:r>
          <a:r>
            <a:rPr lang="it-IT" sz="1400" b="1" i="0" kern="1200" baseline="0" dirty="0"/>
            <a:t> Check</a:t>
          </a:r>
          <a:r>
            <a:rPr lang="it-IT" sz="1400" b="0" i="0" kern="1200" baseline="0" dirty="0"/>
            <a:t>:</a:t>
          </a:r>
          <a:endParaRPr lang="en-US" sz="1400" kern="1200" dirty="0"/>
        </a:p>
      </dsp:txBody>
      <dsp:txXfrm>
        <a:off x="2974584" y="1178"/>
        <a:ext cx="2174490" cy="1304694"/>
      </dsp:txXfrm>
    </dsp:sp>
    <dsp:sp modelId="{77C334F2-D1F0-4018-A189-91A2B8028DFA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0" i="0" kern="1200" baseline="0"/>
            <a:t>Removed: Married, BankCustomer.</a:t>
          </a:r>
          <a:endParaRPr lang="en-US" sz="1400" kern="1200"/>
        </a:p>
      </dsp:txBody>
      <dsp:txXfrm>
        <a:off x="5366524" y="1178"/>
        <a:ext cx="2174490" cy="1304694"/>
      </dsp:txXfrm>
    </dsp:sp>
    <dsp:sp modelId="{015D3E03-18C7-4AD0-8EE0-59AC9D9D1B8B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1933084"/>
                <a:satOff val="-5548"/>
                <a:lumOff val="-8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933084"/>
                <a:satOff val="-5548"/>
                <a:lumOff val="-8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933084"/>
                <a:satOff val="-5548"/>
                <a:lumOff val="-8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0" kern="1200" baseline="0"/>
            <a:t>Highly Correlated Features</a:t>
          </a:r>
          <a:r>
            <a:rPr lang="it-IT" sz="1400" b="0" i="0" kern="1200" baseline="0"/>
            <a:t>:</a:t>
          </a:r>
          <a:endParaRPr lang="en-US" sz="1400" kern="1200"/>
        </a:p>
      </dsp:txBody>
      <dsp:txXfrm>
        <a:off x="7758464" y="1178"/>
        <a:ext cx="2174490" cy="1304694"/>
      </dsp:txXfrm>
    </dsp:sp>
    <dsp:sp modelId="{229C3B93-4F12-4DA8-A9FB-D8C38DD4E6D9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0" i="0" kern="1200" baseline="0"/>
            <a:t>Removed: Industry.Healthcare, Citizen.ByBirth.</a:t>
          </a:r>
          <a:endParaRPr lang="en-US" sz="1400" kern="1200"/>
        </a:p>
      </dsp:txBody>
      <dsp:txXfrm>
        <a:off x="582645" y="1523321"/>
        <a:ext cx="2174490" cy="1304694"/>
      </dsp:txXfrm>
    </dsp:sp>
    <dsp:sp modelId="{45588A53-5EEA-4CB0-8E8D-31CA54569B9A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0" kern="1200" baseline="0"/>
            <a:t>Aliased Variables</a:t>
          </a:r>
          <a:r>
            <a:rPr lang="it-IT" sz="1400" b="0" i="0" kern="1200" baseline="0"/>
            <a:t>:</a:t>
          </a:r>
          <a:endParaRPr lang="en-US" sz="1400" kern="1200"/>
        </a:p>
      </dsp:txBody>
      <dsp:txXfrm>
        <a:off x="2974584" y="1523321"/>
        <a:ext cx="2174490" cy="1304694"/>
      </dsp:txXfrm>
    </dsp:sp>
    <dsp:sp modelId="{8B2E7739-D462-445E-9A91-D11D72528942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0" i="0" kern="1200" baseline="0"/>
            <a:t>Removed: Industry.Utilities, Ethnicity.White, Citizen.Temporary.</a:t>
          </a:r>
          <a:endParaRPr lang="en-US" sz="1400" kern="1200"/>
        </a:p>
      </dsp:txBody>
      <dsp:txXfrm>
        <a:off x="5366524" y="1523321"/>
        <a:ext cx="2174490" cy="1304694"/>
      </dsp:txXfrm>
    </dsp:sp>
    <dsp:sp modelId="{53341B23-CBC5-4FE2-B6F4-B706959D0964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4510529"/>
                <a:satOff val="-12945"/>
                <a:lumOff val="-207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510529"/>
                <a:satOff val="-12945"/>
                <a:lumOff val="-207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510529"/>
                <a:satOff val="-12945"/>
                <a:lumOff val="-207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0" kern="1200" baseline="0" dirty="0"/>
            <a:t>VIF Analysis (VIF&gt;5 )</a:t>
          </a:r>
          <a:r>
            <a:rPr lang="it-IT" sz="1400" b="0" i="0" kern="1200" baseline="0" dirty="0"/>
            <a:t>:</a:t>
          </a:r>
          <a:endParaRPr lang="en-US" sz="1400" kern="1200" dirty="0"/>
        </a:p>
      </dsp:txBody>
      <dsp:txXfrm>
        <a:off x="7758464" y="1523321"/>
        <a:ext cx="2174490" cy="1304694"/>
      </dsp:txXfrm>
    </dsp:sp>
    <dsp:sp modelId="{726F0373-9787-4358-87C0-E3652165FF68}">
      <dsp:nvSpPr>
        <dsp:cNvPr id="0" name=""/>
        <dsp:cNvSpPr/>
      </dsp:nvSpPr>
      <dsp:spPr>
        <a:xfrm>
          <a:off x="1778615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0" i="0" kern="1200" baseline="0"/>
            <a:t>Removed: Industry.Energy.</a:t>
          </a:r>
          <a:endParaRPr lang="en-US" sz="1400" kern="1200"/>
        </a:p>
      </dsp:txBody>
      <dsp:txXfrm>
        <a:off x="1778615" y="3045465"/>
        <a:ext cx="2174490" cy="1304694"/>
      </dsp:txXfrm>
    </dsp:sp>
    <dsp:sp modelId="{17DCD0A4-5F3A-4519-AD8F-E4BEF9AE7265}">
      <dsp:nvSpPr>
        <dsp:cNvPr id="0" name=""/>
        <dsp:cNvSpPr/>
      </dsp:nvSpPr>
      <dsp:spPr>
        <a:xfrm>
          <a:off x="4170554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5799252"/>
                <a:satOff val="-16644"/>
                <a:lumOff val="-2664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799252"/>
                <a:satOff val="-16644"/>
                <a:lumOff val="-2664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799252"/>
                <a:satOff val="-16644"/>
                <a:lumOff val="-2664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i="0" kern="1200" baseline="0" dirty="0"/>
            <a:t>Feature </a:t>
          </a:r>
          <a:r>
            <a:rPr lang="it-IT" sz="1400" b="1" i="0" kern="1200" baseline="0" dirty="0" err="1"/>
            <a:t>Selection</a:t>
          </a:r>
          <a:r>
            <a:rPr lang="it-IT" sz="1400" b="0" i="0" kern="1200" baseline="0" dirty="0"/>
            <a:t>: </a:t>
          </a:r>
          <a:r>
            <a:rPr lang="it-IT" sz="1400" b="0" i="0" kern="1200" baseline="0" dirty="0" err="1"/>
            <a:t>Retained</a:t>
          </a:r>
          <a:r>
            <a:rPr lang="it-IT" sz="1400" b="0" i="0" kern="1200" baseline="0" dirty="0"/>
            <a:t> key features:</a:t>
          </a:r>
          <a:endParaRPr lang="en-US" sz="1400" kern="1200" dirty="0"/>
        </a:p>
      </dsp:txBody>
      <dsp:txXfrm>
        <a:off x="4170554" y="3045465"/>
        <a:ext cx="2174490" cy="1304694"/>
      </dsp:txXfrm>
    </dsp:sp>
    <dsp:sp modelId="{09E6D344-7D46-43CD-A180-7F8B34964363}">
      <dsp:nvSpPr>
        <dsp:cNvPr id="0" name=""/>
        <dsp:cNvSpPr/>
      </dsp:nvSpPr>
      <dsp:spPr>
        <a:xfrm>
          <a:off x="6562494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0" i="0" kern="1200" baseline="0" dirty="0"/>
            <a:t>Gender, Age, </a:t>
          </a:r>
          <a:r>
            <a:rPr lang="it-IT" sz="1400" b="0" i="0" kern="1200" baseline="0" dirty="0" err="1"/>
            <a:t>Debt</a:t>
          </a:r>
          <a:r>
            <a:rPr lang="it-IT" sz="1400" b="0" i="0" kern="1200" baseline="0" dirty="0"/>
            <a:t>, </a:t>
          </a:r>
          <a:r>
            <a:rPr lang="it-IT" sz="1400" b="0" i="0" kern="1200" baseline="0" dirty="0" err="1"/>
            <a:t>YearsEmployed</a:t>
          </a:r>
          <a:r>
            <a:rPr lang="it-IT" sz="1400" b="0" i="0" kern="1200" baseline="0" dirty="0"/>
            <a:t>, </a:t>
          </a:r>
          <a:r>
            <a:rPr lang="it-IT" sz="1400" b="0" i="0" kern="1200" baseline="0" dirty="0" err="1"/>
            <a:t>PriorDefault</a:t>
          </a:r>
          <a:r>
            <a:rPr lang="it-IT" sz="1400" b="0" i="0" kern="1200" baseline="0" dirty="0"/>
            <a:t>, </a:t>
          </a:r>
          <a:r>
            <a:rPr lang="it-IT" sz="1400" b="0" i="0" kern="1200" baseline="0" dirty="0" err="1"/>
            <a:t>Employed</a:t>
          </a:r>
          <a:r>
            <a:rPr lang="it-IT" sz="1400" b="0" i="0" kern="1200" baseline="0" dirty="0"/>
            <a:t>, </a:t>
          </a:r>
          <a:r>
            <a:rPr lang="it-IT" sz="1400" b="0" i="0" kern="1200" baseline="0" dirty="0" err="1"/>
            <a:t>CreditScore</a:t>
          </a:r>
          <a:r>
            <a:rPr lang="it-IT" sz="1400" b="0" i="0" kern="1200" baseline="0" dirty="0"/>
            <a:t>, </a:t>
          </a:r>
          <a:r>
            <a:rPr lang="it-IT" sz="1400" b="0" i="0" kern="1200" baseline="0" dirty="0" err="1"/>
            <a:t>Income</a:t>
          </a:r>
          <a:r>
            <a:rPr lang="it-IT" sz="1400" b="0" i="0" kern="1200" baseline="0" dirty="0"/>
            <a:t>, </a:t>
          </a:r>
          <a:r>
            <a:rPr lang="it-IT" sz="1400" b="0" i="0" kern="1200" baseline="0" dirty="0" err="1"/>
            <a:t>Approved</a:t>
          </a:r>
          <a:r>
            <a:rPr lang="it-IT" sz="1400" b="0" i="0" kern="1200" baseline="0" dirty="0"/>
            <a:t>, </a:t>
          </a:r>
          <a:r>
            <a:rPr lang="it-IT" sz="1400" b="0" i="0" kern="1200" baseline="0" dirty="0" err="1"/>
            <a:t>Citizen.ByOtherMeans</a:t>
          </a:r>
          <a:r>
            <a:rPr lang="it-IT" sz="1400" b="0" i="0" kern="1200" baseline="0" dirty="0"/>
            <a:t>.</a:t>
          </a:r>
          <a:endParaRPr lang="en-US" sz="1400" kern="1200" dirty="0"/>
        </a:p>
      </dsp:txBody>
      <dsp:txXfrm>
        <a:off x="6562494" y="3045465"/>
        <a:ext cx="2174490" cy="1304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D43C16-CE71-560D-6F47-A93E5EFDD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3CB3EF7-0DDD-7EB1-4DB6-679BFAA3B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A30F84B-431A-DF1F-C549-8544E50D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C8D8-BDEB-41DD-86BA-381DE7365080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92421AD-EDB9-BE63-B61F-4087C6836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8A324E-F1B4-1621-425B-F1B975F9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58B-221E-4CAC-8072-244E22F37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642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317BB1-C4A9-8078-262D-BFE4C37B8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068CEA-CDE1-607D-8C14-552C7F5F3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539905E-F2E5-D7DD-7ECB-67B992EFC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C8D8-BDEB-41DD-86BA-381DE7365080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E55EDC-5EA4-DEDD-4848-A1FEC92DE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2B0125-2FC6-EAA7-1B3C-8D203AF34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58B-221E-4CAC-8072-244E22F37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247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BA1C9F-97D4-AD1F-B668-FBE9E88EA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BD99A84-AC5B-9A1A-3FC1-6B6661F82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1D6DCB-CE7B-1A84-AFFF-89A77317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C8D8-BDEB-41DD-86BA-381DE7365080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2FE2AE9-33E7-1229-DF26-8F2E5BF5B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4206911-DC68-6A8F-0147-9812AB24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58B-221E-4CAC-8072-244E22F37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721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1BF1CF-3BAE-F18D-263D-9EF3F74D3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B257D6-AB0F-0607-2175-9AC68046D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D8760A-936F-4A42-95BC-AB5F68DF6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157E86F-BD96-8BDF-92A7-5B7B5DAB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C8D8-BDEB-41DD-86BA-381DE7365080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7860E44-F72B-A53B-EB62-8BACA0C8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B062C28-2757-8AFF-6A4E-76DA2E91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58B-221E-4CAC-8072-244E22F37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9963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14D7A6-BAF8-F268-A3F5-0DB30E8DA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47F44C1-E68E-7EFD-F3BC-4AA9BB5FF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55889B1-0CF5-4DB7-9569-29BC6B4AA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FEB7371-9936-3D33-68ED-D4B1EE6E61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8E9A722-2BD9-FBCD-8178-C026DFACE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BC1A24C-045B-B7FC-CC72-D9A98EEAF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C8D8-BDEB-41DD-86BA-381DE7365080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84ADF38-03FF-A318-57C9-4D9B17B4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F88C856-F7EB-FD96-AD4C-2A290352B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58B-221E-4CAC-8072-244E22F37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8053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87012B-260B-753B-018A-461C590F4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CC167C1-0949-E8C6-59AF-32996E4B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C8D8-BDEB-41DD-86BA-381DE7365080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A385D0C-8A3E-526D-3B85-A1A15F8B3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03B8AE3-995F-6CC6-346B-CAA787DC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58B-221E-4CAC-8072-244E22F37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91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603DB3A-9A44-9018-12D3-B9300C9E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C8D8-BDEB-41DD-86BA-381DE7365080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BFD4301-D0AD-0852-3A56-EEEFE27D0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60621A-8EE3-7CFF-01D5-352A436F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58B-221E-4CAC-8072-244E22F37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119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9E5C88-B0D3-3F6E-03CA-0E84F21CE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F22C6A-D125-B3DA-8EE2-737FF17EC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8CC51B6-350B-36E1-25B8-74EBC677C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ABBBD90-663E-6EF0-7CD8-AD45CD4B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C8D8-BDEB-41DD-86BA-381DE7365080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4A1275F-6929-7C27-5AC3-70358617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44D4B5-3BF5-6352-E869-28DDB4F8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58B-221E-4CAC-8072-244E22F37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253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CB6F0C-3C18-9C40-656D-E1FE7174D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C072C89-CB82-91C0-11A6-EEA0C601D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C0522D6-EC00-7DC1-0EAB-79D2ABB7B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7F57772-71DE-E28D-3FAF-AE34172E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C8D8-BDEB-41DD-86BA-381DE7365080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F79F6A8-3FEF-F595-7D20-EDD6BF8F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C874F17-23EA-F1FB-037C-F4B7873B5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58B-221E-4CAC-8072-244E22F37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9497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F94F49-26D7-BBB3-B1C8-8B4936708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DA51BE6-C0CF-F36E-4F6E-CB6797A5C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F08738-E9FE-84A0-F31B-B253A41D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C8D8-BDEB-41DD-86BA-381DE7365080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03AC7A-CAED-ECE9-2FC5-B394791E6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8556AC-42F5-3A24-10B0-9FC15DA9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58B-221E-4CAC-8072-244E22F37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1443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81CBF49-C20C-CE8C-F5EF-CA41E65480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5E7621E-9732-BACB-8DA1-8BE5A79A5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8E572D-FB55-88FA-85B7-416078F0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0C8D8-BDEB-41DD-86BA-381DE7365080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2246EBB-45EC-94B0-7EA4-451E46CE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922565B-51CD-4B00-4F9A-3B5F91E00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CF58B-221E-4CAC-8072-244E22F37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396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6D4974E-7E4F-E4F2-1279-4D384D041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4AB4ACB-1A8A-D873-246E-D21AE2EA3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202039-8E97-DF69-4CC9-DEBBE9D18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0C8D8-BDEB-41DD-86BA-381DE7365080}" type="datetimeFigureOut">
              <a:rPr lang="it-IT" smtClean="0"/>
              <a:t>27/01/2025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486C44-1A5D-AD7F-A6C9-6B49143BF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C5C34-2D02-1E27-5B13-ED6C7E5C4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CF58B-221E-4CAC-8072-244E22F37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931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redit-card-bank-card-theft-1591492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Dispositivo elettronico, Dispositivo di input, periferico, gadget&#10;&#10;Descrizione generata automaticamente">
            <a:extLst>
              <a:ext uri="{FF2B5EF4-FFF2-40B4-BE49-F238E27FC236}">
                <a16:creationId xmlns:a16="http://schemas.microsoft.com/office/drawing/2014/main" id="{60290433-0984-1272-A429-F06D4B6984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161" b="1761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BA06157-CD72-79B5-1BCB-6226715B1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7020"/>
            <a:ext cx="9144000" cy="1614950"/>
          </a:xfrm>
        </p:spPr>
        <p:txBody>
          <a:bodyPr>
            <a:normAutofit/>
          </a:bodyPr>
          <a:lstStyle/>
          <a:p>
            <a:r>
              <a:rPr lang="en-US" sz="5100" dirty="0">
                <a:solidFill>
                  <a:srgbClr val="FFFFFF"/>
                </a:solidFill>
              </a:rPr>
              <a:t>Statistical Learning Techniques </a:t>
            </a:r>
            <a:r>
              <a:rPr lang="en-US" sz="5100" dirty="0" err="1">
                <a:solidFill>
                  <a:srgbClr val="FFFFFF"/>
                </a:solidFill>
              </a:rPr>
              <a:t>forCredit</a:t>
            </a:r>
            <a:r>
              <a:rPr lang="en-US" sz="5100" dirty="0">
                <a:solidFill>
                  <a:srgbClr val="FFFFFF"/>
                </a:solidFill>
              </a:rPr>
              <a:t> Loan Approval</a:t>
            </a:r>
            <a:endParaRPr lang="it-IT" sz="5100" dirty="0">
              <a:solidFill>
                <a:srgbClr val="FFFFFF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148FB5D-659B-F3F6-F252-FC9576C3A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62392"/>
            <a:ext cx="9144000" cy="109839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A Comprehensive Analysis and </a:t>
            </a:r>
            <a:r>
              <a:rPr lang="en-US" sz="2400" dirty="0" err="1">
                <a:solidFill>
                  <a:srgbClr val="FFFFFF"/>
                </a:solidFill>
              </a:rPr>
              <a:t>PredictiveModeling</a:t>
            </a:r>
            <a:r>
              <a:rPr lang="en-US" sz="2400" dirty="0">
                <a:solidFill>
                  <a:srgbClr val="FFFFFF"/>
                </a:solidFill>
              </a:rPr>
              <a:t> Approach</a:t>
            </a:r>
            <a:endParaRPr lang="it-IT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851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magine che contiene blu, Blu elettrico, Azure, schermata&#10;&#10;Descrizione generata automaticamente">
            <a:extLst>
              <a:ext uri="{FF2B5EF4-FFF2-40B4-BE49-F238E27FC236}">
                <a16:creationId xmlns:a16="http://schemas.microsoft.com/office/drawing/2014/main" id="{8D14A134-AB06-B786-3E2A-D1FD8B24DD2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773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C636408-19BE-38B9-300E-A48CB368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Techniques Used: Unsupervised and Supervised Learning</a:t>
            </a:r>
            <a:endParaRPr lang="it-IT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847291A5-D45E-B5A9-1E82-CBD9513836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3594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7000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B498EDB-8AED-FD8E-4F78-C23BEE71F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339976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Original Dataset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Segnaposto contenuto 4" descr="Immagine che contiene schermata, Blu elettrico, tastiera&#10;&#10;Descrizione generata automaticamente">
            <a:extLst>
              <a:ext uri="{FF2B5EF4-FFF2-40B4-BE49-F238E27FC236}">
                <a16:creationId xmlns:a16="http://schemas.microsoft.com/office/drawing/2014/main" id="{AC9DE820-A8D9-340A-EB86-56497C9909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42" y="470670"/>
            <a:ext cx="11525864" cy="2535689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6450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mmagine che contiene modello, curva, arte, design&#10;&#10;Descrizione generata automaticamente">
            <a:extLst>
              <a:ext uri="{FF2B5EF4-FFF2-40B4-BE49-F238E27FC236}">
                <a16:creationId xmlns:a16="http://schemas.microsoft.com/office/drawing/2014/main" id="{890F2C14-7F5E-6A62-766C-9A66979539A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990" t="9190" r="14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3DD02DD-4723-054B-48C1-0BDCAD124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it-IT" dirty="0"/>
              <a:t>Data </a:t>
            </a:r>
            <a:r>
              <a:rPr lang="it-IT" dirty="0" err="1"/>
              <a:t>Preprocessing</a:t>
            </a:r>
            <a:r>
              <a:rPr lang="it-IT" dirty="0"/>
              <a:t> </a:t>
            </a:r>
            <a:r>
              <a:rPr lang="it-IT" dirty="0" err="1"/>
              <a:t>Overview</a:t>
            </a:r>
            <a:endParaRPr lang="it-IT" dirty="0"/>
          </a:p>
        </p:txBody>
      </p:sp>
      <p:graphicFrame>
        <p:nvGraphicFramePr>
          <p:cNvPr id="17" name="Rectangle 2">
            <a:extLst>
              <a:ext uri="{FF2B5EF4-FFF2-40B4-BE49-F238E27FC236}">
                <a16:creationId xmlns:a16="http://schemas.microsoft.com/office/drawing/2014/main" id="{2B2C800F-7CC8-CE34-706B-3039BECF09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71267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113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egnaposto contenuto 4" descr="Grafici finanziari digitali">
            <a:extLst>
              <a:ext uri="{FF2B5EF4-FFF2-40B4-BE49-F238E27FC236}">
                <a16:creationId xmlns:a16="http://schemas.microsoft.com/office/drawing/2014/main" id="{E42FEF9C-214E-31D8-1B30-7FC0ABB98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1462"/>
          <a:stretch/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0373E8B-10B5-64B3-6801-FEF5BC95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6" y="2852381"/>
            <a:ext cx="3161940" cy="26402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Unsupervized Analysis</a:t>
            </a:r>
          </a:p>
        </p:txBody>
      </p:sp>
    </p:spTree>
    <p:extLst>
      <p:ext uri="{BB962C8B-B14F-4D97-AF65-F5344CB8AC3E}">
        <p14:creationId xmlns:p14="http://schemas.microsoft.com/office/powerpoint/2010/main" val="4083350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5D3B1E4-D65B-C9C8-7635-D32E572F3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Pincipal Components Analysis</a:t>
            </a:r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85259A0C-59CA-3923-88A8-A763DEA030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708502"/>
              </p:ext>
            </p:extLst>
          </p:nvPr>
        </p:nvGraphicFramePr>
        <p:xfrm>
          <a:off x="1798654" y="1900940"/>
          <a:ext cx="8594692" cy="39898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48673">
                  <a:extLst>
                    <a:ext uri="{9D8B030D-6E8A-4147-A177-3AD203B41FA5}">
                      <a16:colId xmlns:a16="http://schemas.microsoft.com/office/drawing/2014/main" val="3110111575"/>
                    </a:ext>
                  </a:extLst>
                </a:gridCol>
                <a:gridCol w="2148673">
                  <a:extLst>
                    <a:ext uri="{9D8B030D-6E8A-4147-A177-3AD203B41FA5}">
                      <a16:colId xmlns:a16="http://schemas.microsoft.com/office/drawing/2014/main" val="756084514"/>
                    </a:ext>
                  </a:extLst>
                </a:gridCol>
                <a:gridCol w="2148673">
                  <a:extLst>
                    <a:ext uri="{9D8B030D-6E8A-4147-A177-3AD203B41FA5}">
                      <a16:colId xmlns:a16="http://schemas.microsoft.com/office/drawing/2014/main" val="2980799878"/>
                    </a:ext>
                  </a:extLst>
                </a:gridCol>
                <a:gridCol w="2148673">
                  <a:extLst>
                    <a:ext uri="{9D8B030D-6E8A-4147-A177-3AD203B41FA5}">
                      <a16:colId xmlns:a16="http://schemas.microsoft.com/office/drawing/2014/main" val="113317340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r>
                        <a:rPr lang="it-IT" sz="1700"/>
                        <a:t>Component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Standard Deviation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Proportion of Variance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 dirty="0"/>
                        <a:t>Cumulative </a:t>
                      </a:r>
                      <a:r>
                        <a:rPr lang="it-IT" sz="1700" dirty="0" err="1"/>
                        <a:t>Proportion</a:t>
                      </a:r>
                      <a:endParaRPr lang="it-IT" sz="1700" dirty="0"/>
                    </a:p>
                  </a:txBody>
                  <a:tcPr marL="96757" marR="96757" marT="48379" marB="48379"/>
                </a:tc>
                <a:extLst>
                  <a:ext uri="{0D108BD9-81ED-4DB2-BD59-A6C34878D82A}">
                    <a16:rowId xmlns:a16="http://schemas.microsoft.com/office/drawing/2014/main" val="4232943449"/>
                  </a:ext>
                </a:extLst>
              </a:tr>
              <a:tr h="373604">
                <a:tc>
                  <a:txBody>
                    <a:bodyPr/>
                    <a:lstStyle/>
                    <a:p>
                      <a:r>
                        <a:rPr lang="it-IT" sz="1700"/>
                        <a:t>PC1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1.5950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0.2827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0.2827</a:t>
                      </a:r>
                    </a:p>
                  </a:txBody>
                  <a:tcPr marL="96757" marR="96757" marT="48379" marB="48379"/>
                </a:tc>
                <a:extLst>
                  <a:ext uri="{0D108BD9-81ED-4DB2-BD59-A6C34878D82A}">
                    <a16:rowId xmlns:a16="http://schemas.microsoft.com/office/drawing/2014/main" val="2914771280"/>
                  </a:ext>
                </a:extLst>
              </a:tr>
              <a:tr h="373604">
                <a:tc>
                  <a:txBody>
                    <a:bodyPr/>
                    <a:lstStyle/>
                    <a:p>
                      <a:r>
                        <a:rPr lang="it-IT" sz="1700"/>
                        <a:t>PC2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1.1243 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0.1404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0.4231</a:t>
                      </a:r>
                    </a:p>
                  </a:txBody>
                  <a:tcPr marL="96757" marR="96757" marT="48379" marB="48379"/>
                </a:tc>
                <a:extLst>
                  <a:ext uri="{0D108BD9-81ED-4DB2-BD59-A6C34878D82A}">
                    <a16:rowId xmlns:a16="http://schemas.microsoft.com/office/drawing/2014/main" val="3146921571"/>
                  </a:ext>
                </a:extLst>
              </a:tr>
              <a:tr h="373604">
                <a:tc>
                  <a:txBody>
                    <a:bodyPr/>
                    <a:lstStyle/>
                    <a:p>
                      <a:r>
                        <a:rPr lang="it-IT" sz="1700"/>
                        <a:t>PC3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1.0061 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0.1125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0.5356</a:t>
                      </a:r>
                    </a:p>
                  </a:txBody>
                  <a:tcPr marL="96757" marR="96757" marT="48379" marB="48379"/>
                </a:tc>
                <a:extLst>
                  <a:ext uri="{0D108BD9-81ED-4DB2-BD59-A6C34878D82A}">
                    <a16:rowId xmlns:a16="http://schemas.microsoft.com/office/drawing/2014/main" val="3791478958"/>
                  </a:ext>
                </a:extLst>
              </a:tr>
              <a:tr h="373604">
                <a:tc>
                  <a:txBody>
                    <a:bodyPr/>
                    <a:lstStyle/>
                    <a:p>
                      <a:r>
                        <a:rPr lang="it-IT" sz="1700"/>
                        <a:t>PC4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0.9810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0.1069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0.6425</a:t>
                      </a:r>
                    </a:p>
                  </a:txBody>
                  <a:tcPr marL="96757" marR="96757" marT="48379" marB="48379"/>
                </a:tc>
                <a:extLst>
                  <a:ext uri="{0D108BD9-81ED-4DB2-BD59-A6C34878D82A}">
                    <a16:rowId xmlns:a16="http://schemas.microsoft.com/office/drawing/2014/main" val="1866935671"/>
                  </a:ext>
                </a:extLst>
              </a:tr>
              <a:tr h="373604">
                <a:tc>
                  <a:txBody>
                    <a:bodyPr/>
                    <a:lstStyle/>
                    <a:p>
                      <a:r>
                        <a:rPr lang="it-IT" sz="1700"/>
                        <a:t>PC5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0.9416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0.0985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 0.7410</a:t>
                      </a:r>
                    </a:p>
                  </a:txBody>
                  <a:tcPr marL="96757" marR="96757" marT="48379" marB="48379"/>
                </a:tc>
                <a:extLst>
                  <a:ext uri="{0D108BD9-81ED-4DB2-BD59-A6C34878D82A}">
                    <a16:rowId xmlns:a16="http://schemas.microsoft.com/office/drawing/2014/main" val="778738652"/>
                  </a:ext>
                </a:extLst>
              </a:tr>
              <a:tr h="373604">
                <a:tc>
                  <a:txBody>
                    <a:bodyPr/>
                    <a:lstStyle/>
                    <a:p>
                      <a:r>
                        <a:rPr lang="it-IT" sz="1700"/>
                        <a:t>PC6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0.8699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 0.0841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0.8251</a:t>
                      </a:r>
                    </a:p>
                  </a:txBody>
                  <a:tcPr marL="96757" marR="96757" marT="48379" marB="48379"/>
                </a:tc>
                <a:extLst>
                  <a:ext uri="{0D108BD9-81ED-4DB2-BD59-A6C34878D82A}">
                    <a16:rowId xmlns:a16="http://schemas.microsoft.com/office/drawing/2014/main" val="2756527208"/>
                  </a:ext>
                </a:extLst>
              </a:tr>
              <a:tr h="373604">
                <a:tc>
                  <a:txBody>
                    <a:bodyPr/>
                    <a:lstStyle/>
                    <a:p>
                      <a:r>
                        <a:rPr lang="it-IT" sz="1700"/>
                        <a:t>PC7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0.7964 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0.0705 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0.8956</a:t>
                      </a:r>
                    </a:p>
                  </a:txBody>
                  <a:tcPr marL="96757" marR="96757" marT="48379" marB="48379"/>
                </a:tc>
                <a:extLst>
                  <a:ext uri="{0D108BD9-81ED-4DB2-BD59-A6C34878D82A}">
                    <a16:rowId xmlns:a16="http://schemas.microsoft.com/office/drawing/2014/main" val="3204453271"/>
                  </a:ext>
                </a:extLst>
              </a:tr>
              <a:tr h="373604">
                <a:tc>
                  <a:txBody>
                    <a:bodyPr/>
                    <a:lstStyle/>
                    <a:p>
                      <a:r>
                        <a:rPr lang="it-IT" sz="1700"/>
                        <a:t>PC8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0.7417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0.0611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0.9567</a:t>
                      </a:r>
                    </a:p>
                  </a:txBody>
                  <a:tcPr marL="96757" marR="96757" marT="48379" marB="48379"/>
                </a:tc>
                <a:extLst>
                  <a:ext uri="{0D108BD9-81ED-4DB2-BD59-A6C34878D82A}">
                    <a16:rowId xmlns:a16="http://schemas.microsoft.com/office/drawing/2014/main" val="3055944546"/>
                  </a:ext>
                </a:extLst>
              </a:tr>
              <a:tr h="373604">
                <a:tc>
                  <a:txBody>
                    <a:bodyPr/>
                    <a:lstStyle/>
                    <a:p>
                      <a:r>
                        <a:rPr lang="it-IT" sz="1700"/>
                        <a:t>PC9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0.6242 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/>
                        <a:t>0.0433</a:t>
                      </a:r>
                    </a:p>
                  </a:txBody>
                  <a:tcPr marL="96757" marR="96757" marT="48379" marB="48379"/>
                </a:tc>
                <a:tc>
                  <a:txBody>
                    <a:bodyPr/>
                    <a:lstStyle/>
                    <a:p>
                      <a:r>
                        <a:rPr lang="it-IT" sz="1700" dirty="0"/>
                        <a:t>1.0000</a:t>
                      </a:r>
                    </a:p>
                  </a:txBody>
                  <a:tcPr marL="96757" marR="96757" marT="48379" marB="48379"/>
                </a:tc>
                <a:extLst>
                  <a:ext uri="{0D108BD9-81ED-4DB2-BD59-A6C34878D82A}">
                    <a16:rowId xmlns:a16="http://schemas.microsoft.com/office/drawing/2014/main" val="2043309108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FCA0824-A201-B600-FF97-5A7476F01A46}"/>
              </a:ext>
            </a:extLst>
          </p:cNvPr>
          <p:cNvSpPr txBox="1"/>
          <p:nvPr/>
        </p:nvSpPr>
        <p:spPr>
          <a:xfrm>
            <a:off x="1788606" y="6063184"/>
            <a:ext cx="8922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Using the </a:t>
            </a:r>
            <a:r>
              <a:rPr lang="en-US" b="1" dirty="0"/>
              <a:t>Kaiser rule</a:t>
            </a:r>
            <a:r>
              <a:rPr lang="en-US" dirty="0"/>
              <a:t>, we selected the first three principal components (PCs), which together explain </a:t>
            </a:r>
            <a:r>
              <a:rPr lang="en-US" b="1" dirty="0"/>
              <a:t>53.56%</a:t>
            </a:r>
            <a:r>
              <a:rPr lang="en-US" dirty="0"/>
              <a:t> of the total variance in the dataset.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35521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526D7B-09D1-1606-D898-B4F9D03E3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66C9B10-DE67-F691-FCE0-8EC0821C7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05BB6F-F7AB-1752-806C-54F5D06D8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27290B-AED0-9333-63C5-6792CF816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A2FB5A-0D07-374D-880A-85DB70241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9CDBBD5-3D2A-4A88-09A1-75E66886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 err="1">
                <a:solidFill>
                  <a:srgbClr val="FFFFFF"/>
                </a:solidFill>
              </a:rPr>
              <a:t>Scree</a:t>
            </a:r>
            <a:r>
              <a:rPr lang="it-IT" sz="4000" dirty="0">
                <a:solidFill>
                  <a:srgbClr val="FFFFFF"/>
                </a:solidFill>
              </a:rPr>
              <a:t> Plot</a:t>
            </a:r>
          </a:p>
        </p:txBody>
      </p:sp>
      <p:pic>
        <p:nvPicPr>
          <p:cNvPr id="5" name="Segnaposto contenuto 4" descr="Immagine che contiene testo, diagramma, schermata, linea&#10;&#10;Descrizione generata automaticamente">
            <a:extLst>
              <a:ext uri="{FF2B5EF4-FFF2-40B4-BE49-F238E27FC236}">
                <a16:creationId xmlns:a16="http://schemas.microsoft.com/office/drawing/2014/main" id="{42D2EB9A-AC13-88F2-0988-5BEDC8678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092" y="1655449"/>
            <a:ext cx="9549816" cy="493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21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B8377-3554-1C69-BDFD-2CA3FB29A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B1ACD7-40AC-6377-15EC-D999F3A70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327C42-B58A-F143-22A2-308379957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DCEF1A-870E-2789-DF26-A37101B68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993FBD-DD47-E65B-5214-80FF25B2A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47CA0E5-111E-5CD2-6077-1DE12D84C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>
                <a:solidFill>
                  <a:srgbClr val="FFFFFF"/>
                </a:solidFill>
              </a:rPr>
              <a:t>PCA </a:t>
            </a:r>
            <a:r>
              <a:rPr lang="it-IT" sz="4000" dirty="0" err="1">
                <a:solidFill>
                  <a:srgbClr val="FFFFFF"/>
                </a:solidFill>
              </a:rPr>
              <a:t>Biplot</a:t>
            </a:r>
            <a:endParaRPr lang="it-IT" sz="4000" dirty="0">
              <a:solidFill>
                <a:srgbClr val="FFFFFF"/>
              </a:solidFill>
            </a:endParaRPr>
          </a:p>
        </p:txBody>
      </p:sp>
      <p:pic>
        <p:nvPicPr>
          <p:cNvPr id="7" name="Segnaposto contenuto 6" descr="Immagine che contiene testo, diagramma, mappa&#10;&#10;Descrizione generata automaticamente">
            <a:extLst>
              <a:ext uri="{FF2B5EF4-FFF2-40B4-BE49-F238E27FC236}">
                <a16:creationId xmlns:a16="http://schemas.microsoft.com/office/drawing/2014/main" id="{51664F72-C904-DCAE-B1C7-93CB0AE6C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980" y="1737586"/>
            <a:ext cx="9235256" cy="4771549"/>
          </a:xfrm>
        </p:spPr>
      </p:pic>
    </p:spTree>
    <p:extLst>
      <p:ext uri="{BB962C8B-B14F-4D97-AF65-F5344CB8AC3E}">
        <p14:creationId xmlns:p14="http://schemas.microsoft.com/office/powerpoint/2010/main" val="1951421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CC8AD-9CBF-BC0E-3369-7A4C34C8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FF675E-101E-A494-164E-225098254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346458-7225-C74E-3A7A-F09377012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3AD103-16F2-7F68-9271-1F2014292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DDEE5F-1ACD-1699-2754-B76DD9037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7A963B-A9C1-9DC9-6530-C6D9108EC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>
                <a:solidFill>
                  <a:srgbClr val="FFFFFF"/>
                </a:solidFill>
              </a:rPr>
              <a:t>PCA Loadings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B6C57E11-3008-DAFC-230A-88CB6EB68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8459645"/>
              </p:ext>
            </p:extLst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5906811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836581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715855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342993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Variable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517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-0.026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-0.456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6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-0.478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-0.053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719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Debt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-0.354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11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YearsEmployed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-0.420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722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PriorDefault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59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Employed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275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CreditScore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130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Income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-0.848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46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Citizen.ByOtherMeans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-0.167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-0.466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0.159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27886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0E56F6AC-BCFD-18AF-6229-54F76FC22EEC}"/>
              </a:ext>
            </a:extLst>
          </p:cNvPr>
          <p:cNvSpPr txBox="1"/>
          <p:nvPr/>
        </p:nvSpPr>
        <p:spPr>
          <a:xfrm>
            <a:off x="297608" y="5783204"/>
            <a:ext cx="11118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PC1 </a:t>
            </a:r>
            <a:r>
              <a:rPr lang="it-IT" dirty="0" err="1"/>
              <a:t>captures</a:t>
            </a:r>
            <a:r>
              <a:rPr lang="it-IT" dirty="0"/>
              <a:t> a </a:t>
            </a:r>
            <a:r>
              <a:rPr lang="it-IT" dirty="0" err="1"/>
              <a:t>dimension</a:t>
            </a:r>
            <a:r>
              <a:rPr lang="it-IT" dirty="0"/>
              <a:t> of </a:t>
            </a:r>
            <a:r>
              <a:rPr lang="it-IT" dirty="0" err="1"/>
              <a:t>financial</a:t>
            </a:r>
            <a:r>
              <a:rPr lang="it-IT" dirty="0"/>
              <a:t> </a:t>
            </a:r>
            <a:r>
              <a:rPr lang="it-IT" dirty="0" err="1"/>
              <a:t>stability</a:t>
            </a:r>
            <a:r>
              <a:rPr lang="it-IT" dirty="0"/>
              <a:t> and </a:t>
            </a:r>
            <a:r>
              <a:rPr lang="it-IT" dirty="0" err="1"/>
              <a:t>employment</a:t>
            </a:r>
            <a:r>
              <a:rPr lang="it-IT" dirty="0"/>
              <a:t> status, </a:t>
            </a:r>
            <a:r>
              <a:rPr lang="it-IT" b="1" dirty="0"/>
              <a:t>PC2 </a:t>
            </a:r>
            <a:r>
              <a:rPr lang="it-IT" dirty="0" err="1"/>
              <a:t>primarily</a:t>
            </a:r>
            <a:r>
              <a:rPr lang="it-IT" dirty="0"/>
              <a:t> </a:t>
            </a:r>
            <a:r>
              <a:rPr lang="it-IT" dirty="0" err="1"/>
              <a:t>captures</a:t>
            </a:r>
            <a:r>
              <a:rPr lang="it-IT" dirty="0"/>
              <a:t> a </a:t>
            </a:r>
            <a:r>
              <a:rPr lang="it-IT" dirty="0" err="1"/>
              <a:t>demographic</a:t>
            </a:r>
            <a:r>
              <a:rPr lang="it-IT" dirty="0"/>
              <a:t> </a:t>
            </a:r>
            <a:r>
              <a:rPr lang="it-IT" dirty="0" err="1"/>
              <a:t>dimension</a:t>
            </a:r>
            <a:r>
              <a:rPr lang="it-IT" dirty="0"/>
              <a:t>,</a:t>
            </a:r>
            <a:r>
              <a:rPr lang="en-US" dirty="0"/>
              <a:t> </a:t>
            </a:r>
            <a:r>
              <a:rPr lang="en-US" b="1" dirty="0"/>
              <a:t>PC3 </a:t>
            </a:r>
            <a:r>
              <a:rPr lang="en-US" dirty="0"/>
              <a:t>primarily captures variability related to income levels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35660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3F13E2-2AD1-CE04-FC3F-B0704F360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B5E5797-3FC3-5DDB-02E2-742458650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FE2C9A-6442-2C2C-4295-F82492686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14CEB3-A722-1051-3E32-ECD80430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752B28-2A35-90DB-3181-0B79C1D97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F665D22-F3C6-C13F-A664-6BB8A9DE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 err="1">
                <a:solidFill>
                  <a:srgbClr val="FFFFFF"/>
                </a:solidFill>
              </a:rPr>
              <a:t>Hierarchical</a:t>
            </a:r>
            <a:r>
              <a:rPr lang="it-IT" sz="4000" dirty="0">
                <a:solidFill>
                  <a:srgbClr val="FFFFFF"/>
                </a:solidFill>
              </a:rPr>
              <a:t> Clustering</a:t>
            </a:r>
          </a:p>
        </p:txBody>
      </p:sp>
      <p:pic>
        <p:nvPicPr>
          <p:cNvPr id="6" name="Segnaposto contenuto 5" descr="Immagine che contiene testo, diagramma, schermata, Carattere&#10;&#10;Descrizione generata automaticamente">
            <a:extLst>
              <a:ext uri="{FF2B5EF4-FFF2-40B4-BE49-F238E27FC236}">
                <a16:creationId xmlns:a16="http://schemas.microsoft.com/office/drawing/2014/main" id="{08EABE76-9087-4773-C9AF-EE8CB34D8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17" y="1774095"/>
            <a:ext cx="6641609" cy="4523821"/>
          </a:xfr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DA82DFD2-E6B7-ED28-D924-46BA3CB66DA9}"/>
              </a:ext>
            </a:extLst>
          </p:cNvPr>
          <p:cNvSpPr txBox="1"/>
          <p:nvPr/>
        </p:nvSpPr>
        <p:spPr>
          <a:xfrm>
            <a:off x="7583243" y="1854482"/>
            <a:ext cx="6096000" cy="2947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Cluster 1: </a:t>
            </a:r>
            <a:r>
              <a:rPr lang="en-US" sz="2400" dirty="0"/>
              <a:t>0.46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Cluster 2: </a:t>
            </a:r>
            <a:r>
              <a:rPr lang="en-US" sz="2400" dirty="0"/>
              <a:t>0.50</a:t>
            </a:r>
            <a:endParaRPr lang="en-US" sz="24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Cluster 3:</a:t>
            </a:r>
            <a:r>
              <a:rPr lang="en-US" sz="2400" dirty="0"/>
              <a:t> 0.34</a:t>
            </a:r>
            <a:endParaRPr lang="en-US" sz="24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Cluster 4: </a:t>
            </a:r>
            <a:r>
              <a:rPr lang="en-US" sz="2400" dirty="0"/>
              <a:t>0.44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14522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3170B-318D-D6CA-A2C9-83336BFB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6EA6CB6-33BD-20C9-4122-8F28E56C0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E64017-550B-FE96-0E2C-2D446B790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6FD0F-5178-4E2B-A5C3-4788DC049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DC06EB-DDA1-80C8-ECB8-5A403F2B4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69F4356-5A87-6C3B-ACED-70D689D29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 err="1">
                <a:solidFill>
                  <a:srgbClr val="FFFFFF"/>
                </a:solidFill>
              </a:rPr>
              <a:t>Hierarchical</a:t>
            </a:r>
            <a:r>
              <a:rPr lang="it-IT" sz="4000" dirty="0">
                <a:solidFill>
                  <a:srgbClr val="FFFFFF"/>
                </a:solidFill>
              </a:rPr>
              <a:t> Clustering</a:t>
            </a:r>
          </a:p>
        </p:txBody>
      </p:sp>
      <p:pic>
        <p:nvPicPr>
          <p:cNvPr id="10" name="Segnaposto contenuto 9" descr="Immagine che contiene diagramma, linea, Piano, Disegno tecnico&#10;&#10;Descrizione generata automaticamente">
            <a:extLst>
              <a:ext uri="{FF2B5EF4-FFF2-40B4-BE49-F238E27FC236}">
                <a16:creationId xmlns:a16="http://schemas.microsoft.com/office/drawing/2014/main" id="{95B94B86-1CD2-68C4-2062-561742CA77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492" y="1730477"/>
            <a:ext cx="9249015" cy="4778658"/>
          </a:xfrm>
        </p:spPr>
      </p:pic>
    </p:spTree>
    <p:extLst>
      <p:ext uri="{BB962C8B-B14F-4D97-AF65-F5344CB8AC3E}">
        <p14:creationId xmlns:p14="http://schemas.microsoft.com/office/powerpoint/2010/main" val="1522948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A8B4E-2A89-6C1D-9557-A5028AC5E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688BD66-391D-7B66-28C6-72FA757E0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72F841-3002-F9DB-9BF8-249A991E4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70D60A-13E9-A319-5FAD-34925557C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011014-DC2A-56C6-2766-7CF6B0495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8AFDE87-8526-145C-A94B-9016E0C0C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 err="1">
                <a:solidFill>
                  <a:srgbClr val="FFFFFF"/>
                </a:solidFill>
              </a:rPr>
              <a:t>Hierarchical</a:t>
            </a:r>
            <a:r>
              <a:rPr lang="it-IT" sz="4000" dirty="0">
                <a:solidFill>
                  <a:srgbClr val="FFFFFF"/>
                </a:solidFill>
              </a:rPr>
              <a:t> Clustering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FD6E4E2-3CBA-865E-863D-503B23E38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Cluster 1</a:t>
            </a:r>
            <a:r>
              <a:rPr lang="en-US" sz="2000" dirty="0"/>
              <a:t>: Slightly above-average age, high debt, moderate employment years, and high credit scores with notable variation. Predominantly male, employed, with prior defaults, and not part of minority groups.</a:t>
            </a:r>
          </a:p>
          <a:p>
            <a:r>
              <a:rPr lang="en-US" sz="2000" b="1" dirty="0"/>
              <a:t>Cluster 2</a:t>
            </a:r>
            <a:r>
              <a:rPr lang="en-US" sz="2000" dirty="0"/>
              <a:t>: Younger individuals, low debt, minimal employment years, and low credit scores with no variation. Predominantly female, unemployed, less likely to have prior defaults, and not part of minority groups.</a:t>
            </a:r>
          </a:p>
          <a:p>
            <a:r>
              <a:rPr lang="en-US" sz="2000" b="1" dirty="0"/>
              <a:t>Cluster 3</a:t>
            </a:r>
            <a:r>
              <a:rPr lang="en-US" sz="2000" dirty="0"/>
              <a:t>: Younger individuals, low debt, fewer employment years, and low credit scores with minimal variation. Predominantly male, unemployed, unlikely to have prior defaults, and not part of minority groups.</a:t>
            </a:r>
          </a:p>
          <a:p>
            <a:r>
              <a:rPr lang="en-US" sz="2000" b="1" dirty="0"/>
              <a:t>Cluster 4</a:t>
            </a:r>
            <a:r>
              <a:rPr lang="en-US" sz="2000" dirty="0"/>
              <a:t>: Relatively younger, low debt, minimal employment years, and credit scores near average with moderate variation. Predominantly male, employed, unlikely to have prior defaults, and not part of minority groups.</a:t>
            </a:r>
          </a:p>
        </p:txBody>
      </p:sp>
    </p:spTree>
    <p:extLst>
      <p:ext uri="{BB962C8B-B14F-4D97-AF65-F5344CB8AC3E}">
        <p14:creationId xmlns:p14="http://schemas.microsoft.com/office/powerpoint/2010/main" val="3118299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5E23C-6C42-282D-8582-C82D53DB2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2BAD2BE-455C-2974-5C25-F34C341A3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1B2960-C6EF-0537-C613-35C1C9BA7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7455CF-69D7-1932-8E1C-B4AE52EA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A9C6DB-14C1-58EA-832C-7B0047EE6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2297734-A4D2-DA33-6865-143A0A41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>
                <a:solidFill>
                  <a:srgbClr val="FFFFFF"/>
                </a:solidFill>
              </a:rPr>
              <a:t>t-SNE</a:t>
            </a:r>
          </a:p>
        </p:txBody>
      </p:sp>
      <p:pic>
        <p:nvPicPr>
          <p:cNvPr id="6" name="Segnaposto contenuto 5" descr="Immagine che contiene testo, diagramma, linea, schermata&#10;&#10;Descrizione generata automaticamente">
            <a:extLst>
              <a:ext uri="{FF2B5EF4-FFF2-40B4-BE49-F238E27FC236}">
                <a16:creationId xmlns:a16="http://schemas.microsoft.com/office/drawing/2014/main" id="{7851B8CC-5A2D-129D-B5D9-0934465DB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580" y="1661132"/>
            <a:ext cx="9180840" cy="4739848"/>
          </a:xfrm>
        </p:spPr>
      </p:pic>
    </p:spTree>
    <p:extLst>
      <p:ext uri="{BB962C8B-B14F-4D97-AF65-F5344CB8AC3E}">
        <p14:creationId xmlns:p14="http://schemas.microsoft.com/office/powerpoint/2010/main" val="77988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11EDD-C5C3-14C3-41AC-B9139FA5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330BBBA-12E7-2271-B6D1-926242F30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CA5645-2F89-7BBB-E2A2-DC4EADC34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3F03AE-4B74-6E09-E1A5-69CAA8473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293243-9809-44D6-333B-739B50396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12D65B6-CF61-493E-E7A1-5929352D4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>
                <a:solidFill>
                  <a:srgbClr val="FFFFFF"/>
                </a:solidFill>
              </a:rPr>
              <a:t>t-SNE Clustering</a:t>
            </a:r>
          </a:p>
        </p:txBody>
      </p:sp>
      <p:pic>
        <p:nvPicPr>
          <p:cNvPr id="7" name="Segnaposto contenuto 6" descr="Immagine che contiene testo, diagramma, schermata, linea&#10;&#10;Descrizione generata automaticamente">
            <a:extLst>
              <a:ext uri="{FF2B5EF4-FFF2-40B4-BE49-F238E27FC236}">
                <a16:creationId xmlns:a16="http://schemas.microsoft.com/office/drawing/2014/main" id="{B3E90FD5-1C12-29A1-6130-244283F1F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924820"/>
            <a:ext cx="7762571" cy="4007630"/>
          </a:xfr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1CA3363-17F7-0B3B-66BC-1800C0A59D90}"/>
              </a:ext>
            </a:extLst>
          </p:cNvPr>
          <p:cNvSpPr txBox="1"/>
          <p:nvPr/>
        </p:nvSpPr>
        <p:spPr>
          <a:xfrm>
            <a:off x="7762570" y="2081975"/>
            <a:ext cx="382474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Cluster 1</a:t>
            </a:r>
            <a:r>
              <a:rPr lang="en-US" dirty="0"/>
              <a:t>: Young individuals with moderate debt, limited work experience, and slightly below-average credit scores.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Cluster 2</a:t>
            </a:r>
            <a:r>
              <a:rPr lang="en-US" dirty="0"/>
              <a:t>: Predominantly male, low debt, poor credit scores, and minimal work experience.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Cluster 3</a:t>
            </a:r>
            <a:r>
              <a:rPr lang="en-US" dirty="0"/>
              <a:t>: Older, financially stable individuals with low debt, high credit scores, and significant work experience.</a:t>
            </a:r>
          </a:p>
        </p:txBody>
      </p:sp>
    </p:spTree>
    <p:extLst>
      <p:ext uri="{BB962C8B-B14F-4D97-AF65-F5344CB8AC3E}">
        <p14:creationId xmlns:p14="http://schemas.microsoft.com/office/powerpoint/2010/main" val="3948301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F055FB-9A29-6475-7CD1-457C9C62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2A9FE8-7AD5-2273-ABE6-6CF1D4504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75A10B-C88A-7503-912F-A631F688F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D24B4F-4137-15B8-AF3B-F94B22D39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8AA24E-CF11-4223-5117-08A95C332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FE9E073-6CDF-0E45-8EA1-F35E569A8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>
                <a:solidFill>
                  <a:srgbClr val="FFFFFF"/>
                </a:solidFill>
              </a:rPr>
              <a:t>t-SNE Silhouette Score</a:t>
            </a:r>
          </a:p>
        </p:txBody>
      </p:sp>
      <p:pic>
        <p:nvPicPr>
          <p:cNvPr id="6" name="Segnaposto contenuto 5" descr="Immagine che contiene schermata, testo, diagramma, Diagramma&#10;&#10;Descrizione generata automaticamente">
            <a:extLst>
              <a:ext uri="{FF2B5EF4-FFF2-40B4-BE49-F238E27FC236}">
                <a16:creationId xmlns:a16="http://schemas.microsoft.com/office/drawing/2014/main" id="{BD9B3D85-CABE-4174-73A7-D6D166407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98" y="1652496"/>
            <a:ext cx="8526029" cy="5128472"/>
          </a:xfr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1F7BBD47-B2BB-7EA5-38A9-7E7145D34D49}"/>
              </a:ext>
            </a:extLst>
          </p:cNvPr>
          <p:cNvSpPr txBox="1"/>
          <p:nvPr/>
        </p:nvSpPr>
        <p:spPr>
          <a:xfrm>
            <a:off x="8671727" y="1924820"/>
            <a:ext cx="6094324" cy="16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Cluster 1</a:t>
            </a:r>
            <a:r>
              <a:rPr lang="it-IT" dirty="0"/>
              <a:t>: 0.38924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Cluster 2:</a:t>
            </a:r>
            <a:r>
              <a:rPr lang="it-IT" dirty="0"/>
              <a:t> 0.509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Cluster 3: </a:t>
            </a:r>
            <a:r>
              <a:rPr lang="it-IT" dirty="0"/>
              <a:t>0.481</a:t>
            </a:r>
          </a:p>
        </p:txBody>
      </p:sp>
    </p:spTree>
    <p:extLst>
      <p:ext uri="{BB962C8B-B14F-4D97-AF65-F5344CB8AC3E}">
        <p14:creationId xmlns:p14="http://schemas.microsoft.com/office/powerpoint/2010/main" val="2083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6E14D-F110-4732-096E-D8A05DA85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7B42E05-FC46-2D07-933A-2316FE7AA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8A2BA2-4146-5F35-C428-490922EE8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D998C2-2D61-1F77-3F3A-A8581A749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57D8DE-3A18-2F39-4D78-0164B3B22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FD92C80-0C91-CC39-F781-E52215AFA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>
                <a:solidFill>
                  <a:srgbClr val="FFFFFF"/>
                </a:solidFill>
              </a:rPr>
              <a:t>UMAP</a:t>
            </a:r>
          </a:p>
        </p:txBody>
      </p:sp>
      <p:pic>
        <p:nvPicPr>
          <p:cNvPr id="7" name="Segnaposto contenuto 6" descr="Immagine che contiene testo, linea, schermata, diagramma&#10;&#10;Descrizione generata automaticamente">
            <a:extLst>
              <a:ext uri="{FF2B5EF4-FFF2-40B4-BE49-F238E27FC236}">
                <a16:creationId xmlns:a16="http://schemas.microsoft.com/office/drawing/2014/main" id="{E2B05B7F-0A25-3065-64F8-F77A36677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94" y="1825625"/>
            <a:ext cx="8428316" cy="4351338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BA5F1287-D880-495B-81D4-6B3D50A931AA}"/>
              </a:ext>
            </a:extLst>
          </p:cNvPr>
          <p:cNvSpPr txBox="1"/>
          <p:nvPr/>
        </p:nvSpPr>
        <p:spPr>
          <a:xfrm>
            <a:off x="8619011" y="2985631"/>
            <a:ext cx="35729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clusters of </a:t>
            </a:r>
            <a:r>
              <a:rPr lang="en-US" b="1" dirty="0"/>
              <a:t>approved (blue)</a:t>
            </a:r>
            <a:r>
              <a:rPr lang="en-US" dirty="0"/>
              <a:t> and </a:t>
            </a:r>
            <a:r>
              <a:rPr lang="en-US" b="1" dirty="0"/>
              <a:t>rejected (light red)</a:t>
            </a:r>
            <a:r>
              <a:rPr lang="en-US" dirty="0"/>
              <a:t> applications observed.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Overlap</a:t>
            </a:r>
            <a:r>
              <a:rPr lang="en-US" dirty="0"/>
              <a:t> between groups suggests features do not fully separate the two categories.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8221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1C79CE-165B-756A-0F25-D565B127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75E19BF-9E37-F6CC-060B-5D0B55690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C5029B-FAA8-DFCE-1591-6AEDB1D8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egnaposto contenuto 4" descr="Grafici finanziari digitali">
            <a:extLst>
              <a:ext uri="{FF2B5EF4-FFF2-40B4-BE49-F238E27FC236}">
                <a16:creationId xmlns:a16="http://schemas.microsoft.com/office/drawing/2014/main" id="{C765854C-1979-DE9A-F7B4-51A502692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1462"/>
          <a:stretch/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0C1B4605-B0BD-A91D-22F2-A3FE5E3BC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6" y="2852381"/>
            <a:ext cx="3161940" cy="26402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Supervized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Analysis</a:t>
            </a:r>
          </a:p>
        </p:txBody>
      </p:sp>
    </p:spTree>
    <p:extLst>
      <p:ext uri="{BB962C8B-B14F-4D97-AF65-F5344CB8AC3E}">
        <p14:creationId xmlns:p14="http://schemas.microsoft.com/office/powerpoint/2010/main" val="2845462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69F6A-1E42-0B70-6C75-6332BE399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B1648C5-C4DB-D636-3CE7-66F772B7F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6E8BE4-7721-505B-56B1-A0C581F15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C3A208-480B-9742-BDB2-4A731A110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64FF47-FE4E-48FA-A53F-127218D3B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B7FB785-216F-309E-532B-05C9C8810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Logistic Regression with Elastic Net Regularization</a:t>
            </a:r>
            <a:endParaRPr lang="it-IT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41308479-74C1-F50B-8161-944EB5F7EB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554923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1016731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152170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466437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920996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Predicted</a:t>
                      </a:r>
                      <a:r>
                        <a:rPr lang="it-IT" dirty="0"/>
                        <a:t> \True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Rejected</a:t>
                      </a:r>
                      <a:r>
                        <a:rPr lang="it-IT" dirty="0"/>
                        <a:t>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Approved</a:t>
                      </a:r>
                      <a:r>
                        <a:rPr lang="it-IT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Total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320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 err="1"/>
                        <a:t>Rejected</a:t>
                      </a:r>
                      <a:r>
                        <a:rPr lang="it-IT" dirty="0"/>
                        <a:t>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596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Approved</a:t>
                      </a:r>
                      <a:r>
                        <a:rPr lang="it-IT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475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029180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F00A8B41-B90A-BAC6-826D-BB051A793259}"/>
              </a:ext>
            </a:extLst>
          </p:cNvPr>
          <p:cNvSpPr txBox="1"/>
          <p:nvPr/>
        </p:nvSpPr>
        <p:spPr>
          <a:xfrm>
            <a:off x="749710" y="3558164"/>
            <a:ext cx="6096000" cy="27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 err="1"/>
              <a:t>Binomial</a:t>
            </a:r>
            <a:r>
              <a:rPr lang="it-IT" b="1" dirty="0"/>
              <a:t> </a:t>
            </a:r>
            <a:r>
              <a:rPr lang="it-IT" b="1" dirty="0" err="1"/>
              <a:t>Deviance</a:t>
            </a:r>
            <a:r>
              <a:rPr lang="it-IT" b="1" dirty="0"/>
              <a:t>: </a:t>
            </a:r>
            <a:r>
              <a:rPr lang="it-IT" dirty="0"/>
              <a:t>0.758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 err="1"/>
              <a:t>Misclassification</a:t>
            </a:r>
            <a:r>
              <a:rPr lang="it-IT" b="1" dirty="0"/>
              <a:t> </a:t>
            </a:r>
            <a:r>
              <a:rPr lang="it-IT" b="1" dirty="0" err="1"/>
              <a:t>Error</a:t>
            </a:r>
            <a:r>
              <a:rPr lang="it-IT" b="1" dirty="0"/>
              <a:t>: </a:t>
            </a:r>
            <a:r>
              <a:rPr lang="it-IT" dirty="0"/>
              <a:t>0.1232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AUC (Area Under the ROC Curve): </a:t>
            </a:r>
            <a:r>
              <a:rPr lang="en-US" dirty="0"/>
              <a:t>0.933</a:t>
            </a:r>
            <a:endParaRPr lang="it-IT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Mean-</a:t>
            </a:r>
            <a:r>
              <a:rPr lang="it-IT" b="1" dirty="0" err="1"/>
              <a:t>Squared</a:t>
            </a:r>
            <a:r>
              <a:rPr lang="it-IT" b="1" dirty="0"/>
              <a:t> </a:t>
            </a:r>
            <a:r>
              <a:rPr lang="it-IT" b="1" dirty="0" err="1"/>
              <a:t>Error</a:t>
            </a:r>
            <a:r>
              <a:rPr lang="it-IT" b="1" dirty="0"/>
              <a:t> (MSE): </a:t>
            </a:r>
            <a:r>
              <a:rPr lang="it-IT" dirty="0"/>
              <a:t>0.2180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s-ES" b="1" dirty="0"/>
              <a:t>Mean Absolute Error (MAE): </a:t>
            </a:r>
            <a:r>
              <a:rPr lang="es-ES" dirty="0"/>
              <a:t>0.5584</a:t>
            </a:r>
            <a:endParaRPr lang="it-IT" dirty="0"/>
          </a:p>
        </p:txBody>
      </p:sp>
      <p:pic>
        <p:nvPicPr>
          <p:cNvPr id="10" name="Immagine 9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EDFE1080-A92A-5CA9-2510-E16B600F9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455" y="3308985"/>
            <a:ext cx="6597445" cy="340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46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01EAA9-DD4E-3F6C-476F-4778C1D2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C68D280-24DF-37F3-FF4A-23EC2A6E0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0822F7-B0A2-629E-EB5B-C67A80D9E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C3E4EC-BF45-B6E0-2AB0-99CD51055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9F40E8-38D6-7990-C8B4-068ED3300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D777D58-F8F3-C4FB-6630-3C857D781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>
                <a:solidFill>
                  <a:srgbClr val="FFFFFF"/>
                </a:solidFill>
              </a:rPr>
              <a:t>Random </a:t>
            </a:r>
            <a:r>
              <a:rPr lang="it-IT" sz="4000" dirty="0" err="1">
                <a:solidFill>
                  <a:srgbClr val="FFFFFF"/>
                </a:solidFill>
              </a:rPr>
              <a:t>Forest</a:t>
            </a:r>
            <a:endParaRPr lang="it-IT" sz="4000" dirty="0">
              <a:solidFill>
                <a:srgbClr val="FFFFFF"/>
              </a:solidFill>
            </a:endParaRPr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8D5196E1-52B2-32F9-6B35-DAF81E71BA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3015846"/>
              </p:ext>
            </p:extLst>
          </p:nvPr>
        </p:nvGraphicFramePr>
        <p:xfrm>
          <a:off x="838200" y="1653899"/>
          <a:ext cx="105156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701760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708429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331477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24744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Predicted</a:t>
                      </a:r>
                      <a:r>
                        <a:rPr lang="it-IT" dirty="0"/>
                        <a:t> \True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Rejected</a:t>
                      </a:r>
                      <a:r>
                        <a:rPr lang="it-IT" dirty="0"/>
                        <a:t>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Approved</a:t>
                      </a:r>
                      <a:r>
                        <a:rPr lang="it-IT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Total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172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 err="1"/>
                        <a:t>Rejected</a:t>
                      </a:r>
                      <a:r>
                        <a:rPr lang="it-IT" dirty="0"/>
                        <a:t>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0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Approved</a:t>
                      </a:r>
                      <a:r>
                        <a:rPr lang="it-IT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635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803055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723682D3-7FB0-12F6-D698-3CEFA87372D3}"/>
              </a:ext>
            </a:extLst>
          </p:cNvPr>
          <p:cNvSpPr txBox="1"/>
          <p:nvPr/>
        </p:nvSpPr>
        <p:spPr>
          <a:xfrm>
            <a:off x="297608" y="3689617"/>
            <a:ext cx="6096000" cy="27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 err="1"/>
              <a:t>Accuracy</a:t>
            </a:r>
            <a:r>
              <a:rPr lang="it-IT" dirty="0"/>
              <a:t>: 86.13%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Precision </a:t>
            </a:r>
            <a:r>
              <a:rPr lang="it-IT" dirty="0"/>
              <a:t>(Positive </a:t>
            </a:r>
            <a:r>
              <a:rPr lang="it-IT" dirty="0" err="1"/>
              <a:t>Predictive</a:t>
            </a:r>
            <a:r>
              <a:rPr lang="it-IT" dirty="0"/>
              <a:t> Value): 92.00%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Recall </a:t>
            </a:r>
            <a:r>
              <a:rPr lang="it-IT" dirty="0"/>
              <a:t>(</a:t>
            </a:r>
            <a:r>
              <a:rPr lang="it-IT" dirty="0" err="1"/>
              <a:t>Sensitivity</a:t>
            </a:r>
            <a:r>
              <a:rPr lang="it-IT" dirty="0"/>
              <a:t>): 75.41%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 err="1"/>
              <a:t>Specificity</a:t>
            </a:r>
            <a:r>
              <a:rPr lang="it-IT" b="1" dirty="0"/>
              <a:t>: </a:t>
            </a:r>
            <a:r>
              <a:rPr lang="it-IT" dirty="0"/>
              <a:t>94.74%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F1-Score:</a:t>
            </a:r>
            <a:r>
              <a:rPr lang="it-IT" dirty="0"/>
              <a:t> 82.88%</a:t>
            </a:r>
          </a:p>
        </p:txBody>
      </p:sp>
      <p:pic>
        <p:nvPicPr>
          <p:cNvPr id="11" name="Immagine 10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6BE25F53-3419-0741-8804-D817E7B7F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995" y="3214712"/>
            <a:ext cx="7051968" cy="364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560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27533-515D-D3E8-F8E0-B715BFFAF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EB1559-F1F9-E252-7F21-1C786508B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A36BE4-6AE8-10CA-7F07-A2F81B6FC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D6CD41-D048-4EB1-DEAF-516EAA44E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A41AED-BA85-4C3F-CD6D-CE6414246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F0033CD-D54C-A8E1-9368-95D5F90A6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 err="1">
                <a:solidFill>
                  <a:srgbClr val="FFFFFF"/>
                </a:solidFill>
              </a:rPr>
              <a:t>XGBoost</a:t>
            </a:r>
            <a:endParaRPr lang="it-IT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42FC4851-EE02-4C41-26D0-7F956CDA7A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533248"/>
              </p:ext>
            </p:extLst>
          </p:nvPr>
        </p:nvGraphicFramePr>
        <p:xfrm>
          <a:off x="838200" y="1575459"/>
          <a:ext cx="105156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077277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598528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894456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13161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Predicted</a:t>
                      </a:r>
                      <a:r>
                        <a:rPr lang="it-IT" dirty="0"/>
                        <a:t> \True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Rejected</a:t>
                      </a:r>
                      <a:r>
                        <a:rPr lang="it-IT" dirty="0"/>
                        <a:t>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Approved</a:t>
                      </a:r>
                      <a:r>
                        <a:rPr lang="it-IT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Total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06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 err="1"/>
                        <a:t>Rejected</a:t>
                      </a:r>
                      <a:r>
                        <a:rPr lang="it-IT" dirty="0"/>
                        <a:t>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677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Approved</a:t>
                      </a:r>
                      <a:r>
                        <a:rPr lang="it-IT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514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388079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FCCF4DF1-4160-3F8A-B665-874A02C71CD8}"/>
              </a:ext>
            </a:extLst>
          </p:cNvPr>
          <p:cNvSpPr txBox="1"/>
          <p:nvPr/>
        </p:nvSpPr>
        <p:spPr>
          <a:xfrm>
            <a:off x="297608" y="3429000"/>
            <a:ext cx="6096000" cy="27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 err="1"/>
              <a:t>Accuracy</a:t>
            </a:r>
            <a:r>
              <a:rPr lang="it-IT" dirty="0"/>
              <a:t>: 86.96%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Precision</a:t>
            </a:r>
            <a:r>
              <a:rPr lang="it-IT" dirty="0"/>
              <a:t>: 83.33% (Positive </a:t>
            </a:r>
            <a:r>
              <a:rPr lang="it-IT" dirty="0" err="1"/>
              <a:t>Predictive</a:t>
            </a:r>
            <a:r>
              <a:rPr lang="it-IT" dirty="0"/>
              <a:t> Value)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Recall</a:t>
            </a:r>
            <a:r>
              <a:rPr lang="it-IT" dirty="0"/>
              <a:t>: 96.15% (</a:t>
            </a:r>
            <a:r>
              <a:rPr lang="it-IT" dirty="0" err="1"/>
              <a:t>Sensitivity</a:t>
            </a:r>
            <a:r>
              <a:rPr lang="it-IT" dirty="0"/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 err="1"/>
              <a:t>Specificity</a:t>
            </a:r>
            <a:r>
              <a:rPr lang="it-IT" dirty="0"/>
              <a:t>: 75.00%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b="1" dirty="0"/>
              <a:t>F1-Score</a:t>
            </a:r>
            <a:r>
              <a:rPr lang="it-IT" dirty="0"/>
              <a:t>: 89.29%</a:t>
            </a:r>
          </a:p>
        </p:txBody>
      </p:sp>
      <p:pic>
        <p:nvPicPr>
          <p:cNvPr id="10" name="Immagine 9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63F9FA7E-A54E-15BB-CEB0-727F91392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847" y="3134020"/>
            <a:ext cx="7062153" cy="364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27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8A507D-FAA9-F8EA-FD47-1C3D1935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C8A7424-881C-4961-BB3C-8FD2DC847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24FC17-2309-9B32-FF7D-9FAD34C20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68340-B47C-1CE1-35A6-DA652A4DB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07CD8C-79F4-0B8F-325A-D66250275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ED67311-88DA-7765-AC39-66E6C724D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 err="1">
                <a:solidFill>
                  <a:srgbClr val="FFFFFF"/>
                </a:solidFill>
              </a:rPr>
              <a:t>Neural</a:t>
            </a:r>
            <a:r>
              <a:rPr lang="it-IT" sz="4000" dirty="0">
                <a:solidFill>
                  <a:srgbClr val="FFFFFF"/>
                </a:solidFill>
              </a:rPr>
              <a:t> Network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A89DB27B-91F0-3B6A-DE1C-25BDF6197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4453373"/>
              </p:ext>
            </p:extLst>
          </p:nvPr>
        </p:nvGraphicFramePr>
        <p:xfrm>
          <a:off x="838200" y="2078289"/>
          <a:ext cx="105156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5721276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81238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043061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47850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Predicted</a:t>
                      </a:r>
                      <a:r>
                        <a:rPr lang="it-IT" dirty="0"/>
                        <a:t> \True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Rejected</a:t>
                      </a:r>
                      <a:r>
                        <a:rPr lang="it-IT" dirty="0"/>
                        <a:t>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Approved</a:t>
                      </a:r>
                      <a:r>
                        <a:rPr lang="it-IT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Total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47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 err="1"/>
                        <a:t>Rejected</a:t>
                      </a:r>
                      <a:r>
                        <a:rPr lang="it-IT" dirty="0"/>
                        <a:t>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418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Approved</a:t>
                      </a:r>
                      <a:r>
                        <a:rPr lang="it-IT" dirty="0"/>
                        <a:t>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76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981036"/>
                  </a:ext>
                </a:extLst>
              </a:tr>
            </a:tbl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49547B3-AFAE-C6DB-492C-64EBFF071D84}"/>
              </a:ext>
            </a:extLst>
          </p:cNvPr>
          <p:cNvSpPr txBox="1"/>
          <p:nvPr/>
        </p:nvSpPr>
        <p:spPr>
          <a:xfrm>
            <a:off x="838200" y="4063492"/>
            <a:ext cx="6096000" cy="16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Accuracy</a:t>
            </a:r>
            <a:r>
              <a:rPr lang="en-US" dirty="0"/>
              <a:t>: 0.8841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Precision</a:t>
            </a:r>
            <a:r>
              <a:rPr lang="en-US" dirty="0"/>
              <a:t>: 0.8780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Recall</a:t>
            </a:r>
            <a:r>
              <a:rPr lang="en-US" dirty="0"/>
              <a:t>: 0.923140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5C7B240-40EC-1DC2-A791-299FB9035209}"/>
              </a:ext>
            </a:extLst>
          </p:cNvPr>
          <p:cNvSpPr txBox="1"/>
          <p:nvPr/>
        </p:nvSpPr>
        <p:spPr>
          <a:xfrm>
            <a:off x="6096000" y="4063492"/>
            <a:ext cx="6096000" cy="16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Specificity</a:t>
            </a:r>
            <a:r>
              <a:rPr lang="en-US" dirty="0"/>
              <a:t>: 0.8333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F1-Score</a:t>
            </a:r>
            <a:r>
              <a:rPr lang="en-US" dirty="0"/>
              <a:t>: 0.8929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Kappa</a:t>
            </a:r>
            <a:r>
              <a:rPr lang="en-US" dirty="0"/>
              <a:t>: 0.7623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18598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F4155-21B4-0127-47DE-72F193DA7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Grafici finanziari digitali">
            <a:extLst>
              <a:ext uri="{FF2B5EF4-FFF2-40B4-BE49-F238E27FC236}">
                <a16:creationId xmlns:a16="http://schemas.microsoft.com/office/drawing/2014/main" id="{484A6469-4B3B-70F6-7FB2-B00D54579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1462"/>
          <a:stretch/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8081C6C6-77A5-C1B4-7510-DEBED8BE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6" y="2852381"/>
            <a:ext cx="3161940" cy="26402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103022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CEA05-F002-075F-32E6-2ED4A0AD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D2DBBF8-12A8-ECF0-81AD-04A5E0FA1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Unsupervized</a:t>
            </a:r>
            <a:r>
              <a:rPr lang="it-IT" sz="4000" dirty="0">
                <a:solidFill>
                  <a:srgbClr val="FFFFFF"/>
                </a:solidFill>
              </a:rPr>
              <a:t> Analysis</a:t>
            </a:r>
            <a:endParaRPr lang="it-IT" sz="4000">
              <a:solidFill>
                <a:srgbClr val="FFFFFF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8684EB7-A636-591B-A2F5-543622B5F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1" y="434474"/>
            <a:ext cx="5668206" cy="59890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PCA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Reduced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dimensionality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revealing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financial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stability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demographics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and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income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as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key drivers of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variance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it-IT" altLang="it-IT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9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Hierarchical</a:t>
            </a:r>
            <a:r>
              <a:rPr kumimoji="0" lang="it-IT" altLang="it-IT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Clustering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Identified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4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distinct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clusters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based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on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financial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demographic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characteristics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it-IT" altLang="it-IT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t-SNE with </a:t>
            </a:r>
            <a:r>
              <a:rPr kumimoji="0" lang="it-IT" altLang="it-IT" sz="19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k-means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lang="it-IT" altLang="it-IT" sz="1900" dirty="0" err="1">
                <a:latin typeface="Arial" panose="020B0604020202020204" pitchFamily="34" charset="0"/>
              </a:rPr>
              <a:t>Highlighted</a:t>
            </a:r>
            <a:r>
              <a:rPr lang="it-IT" altLang="it-IT" sz="1900" dirty="0">
                <a:latin typeface="Arial" panose="020B0604020202020204" pitchFamily="34" charset="0"/>
              </a:rPr>
              <a:t> fine-</a:t>
            </a:r>
            <a:r>
              <a:rPr lang="it-IT" altLang="it-IT" sz="1900" dirty="0" err="1">
                <a:latin typeface="Arial" panose="020B0604020202020204" pitchFamily="34" charset="0"/>
              </a:rPr>
              <a:t>grained</a:t>
            </a:r>
            <a:r>
              <a:rPr lang="it-IT" altLang="it-IT" sz="1900" dirty="0">
                <a:latin typeface="Arial" panose="020B0604020202020204" pitchFamily="34" charset="0"/>
              </a:rPr>
              <a:t> clusters, </a:t>
            </a:r>
            <a:r>
              <a:rPr lang="it-IT" altLang="it-IT" sz="1900" dirty="0" err="1">
                <a:latin typeface="Arial" panose="020B0604020202020204" pitchFamily="34" charset="0"/>
              </a:rPr>
              <a:t>showing</a:t>
            </a:r>
            <a:r>
              <a:rPr lang="it-IT" altLang="it-IT" sz="1900" dirty="0">
                <a:latin typeface="Arial" panose="020B0604020202020204" pitchFamily="34" charset="0"/>
              </a:rPr>
              <a:t> </a:t>
            </a:r>
            <a:r>
              <a:rPr lang="it-IT" altLang="it-IT" sz="1900" dirty="0" err="1">
                <a:latin typeface="Arial" panose="020B0604020202020204" pitchFamily="34" charset="0"/>
              </a:rPr>
              <a:t>distinct</a:t>
            </a:r>
            <a:r>
              <a:rPr lang="it-IT" altLang="it-IT" sz="1900" dirty="0">
                <a:latin typeface="Arial" panose="020B0604020202020204" pitchFamily="34" charset="0"/>
              </a:rPr>
              <a:t> groups </a:t>
            </a:r>
            <a:r>
              <a:rPr lang="it-IT" altLang="it-IT" sz="1900" dirty="0" err="1">
                <a:latin typeface="Arial" panose="020B0604020202020204" pitchFamily="34" charset="0"/>
              </a:rPr>
              <a:t>such</a:t>
            </a:r>
            <a:r>
              <a:rPr lang="it-IT" altLang="it-IT" sz="1900" dirty="0">
                <a:latin typeface="Arial" panose="020B0604020202020204" pitchFamily="34" charset="0"/>
              </a:rPr>
              <a:t> </a:t>
            </a:r>
            <a:r>
              <a:rPr lang="it-IT" altLang="it-IT" sz="1900" dirty="0" err="1">
                <a:latin typeface="Arial" panose="020B0604020202020204" pitchFamily="34" charset="0"/>
              </a:rPr>
              <a:t>as</a:t>
            </a:r>
            <a:r>
              <a:rPr lang="it-IT" altLang="it-IT" sz="1900" dirty="0">
                <a:latin typeface="Arial" panose="020B0604020202020204" pitchFamily="34" charset="0"/>
              </a:rPr>
              <a:t>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Young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individuals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with moderate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debt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Low-credit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males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Financially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stable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older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individuals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it-IT" altLang="it-IT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UMAP (</a:t>
            </a:r>
            <a:r>
              <a:rPr kumimoji="0" lang="it-IT" altLang="it-IT" sz="19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approved</a:t>
            </a:r>
            <a:r>
              <a:rPr kumimoji="0" lang="it-IT" altLang="it-IT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/</a:t>
            </a:r>
            <a:r>
              <a:rPr kumimoji="0" lang="it-IT" altLang="it-IT" sz="19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rejected</a:t>
            </a:r>
            <a:r>
              <a:rPr kumimoji="0" lang="it-IT" altLang="it-IT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Visualized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global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structure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of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approved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rejected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applications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Revealed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overlaps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transitional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areas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between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these</a:t>
            </a:r>
            <a:r>
              <a:rPr kumimoji="0" lang="it-IT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groups.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it-IT" altLang="it-IT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609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28821-B90D-8775-36E1-4A9A7418E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27687F5-3BCD-CFE9-DEEB-78CCEB88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D82758-7E28-058A-7094-6ECC18B2A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397A79-F6A7-2F2A-CD48-01D4F20C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5EA56B-F550-6C5C-D282-3DFD56A51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06E087-A50E-9644-D73A-345945324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227D2FC-4D0E-4DF5-DFDA-8A01411DE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ECD7789-C2A6-8AB2-0651-862C6B74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 err="1">
                <a:solidFill>
                  <a:srgbClr val="FFFFFF"/>
                </a:solidFill>
              </a:rPr>
              <a:t>Supervized</a:t>
            </a:r>
            <a:r>
              <a:rPr lang="it-IT" sz="4000" dirty="0">
                <a:solidFill>
                  <a:srgbClr val="FFFFFF"/>
                </a:solidFill>
              </a:rPr>
              <a:t> Analysis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63EF8D5-78EE-5727-9B70-DF0DF3ACF0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1" y="10141"/>
            <a:ext cx="5869858" cy="68478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it-IT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Logistic Regression </a:t>
            </a: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(Elastic Net):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Selected key features: Prior Default, Credit Score, Income.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Strong interpretability; achieved an AUC of 0.9339.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it-IT" sz="1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it-IT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 Forest</a:t>
            </a: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Highlighted variable importance with top predictors: Prior Default, Income, Credit Score.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Accuracy: 86.13%.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it-IT" sz="1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it-IT" sz="19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Captured complex relationships with hyperparameter tuning.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Accuracy: 86.96%.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it-IT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it-IT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Neural Network</a:t>
            </a: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Achieved the highest accuracy (88.41%) with a simple architecture (single hidden layer).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it-IT" sz="19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it-IT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Insights</a:t>
            </a: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Logistic regression and random forest excel in interpretability and feature selection.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it-IT" sz="19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it-IT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neural networks deliver superior performance with competitive accuracy.</a:t>
            </a:r>
            <a:endParaRPr kumimoji="0" lang="it-IT" altLang="it-IT" sz="19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495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gura umana di legno">
            <a:extLst>
              <a:ext uri="{FF2B5EF4-FFF2-40B4-BE49-F238E27FC236}">
                <a16:creationId xmlns:a16="http://schemas.microsoft.com/office/drawing/2014/main" id="{FA99107C-EE24-0BCC-713D-A30043227C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573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B5BF452-3CAE-3439-7C21-A7F19607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Thank you for your attention! Questions?</a:t>
            </a:r>
          </a:p>
        </p:txBody>
      </p:sp>
    </p:spTree>
    <p:extLst>
      <p:ext uri="{BB962C8B-B14F-4D97-AF65-F5344CB8AC3E}">
        <p14:creationId xmlns:p14="http://schemas.microsoft.com/office/powerpoint/2010/main" val="2141486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2219</TotalTime>
  <Words>1082</Words>
  <Application>Microsoft Office PowerPoint</Application>
  <PresentationFormat>Widescreen</PresentationFormat>
  <Paragraphs>263</Paragraphs>
  <Slides>25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Tema di Office</vt:lpstr>
      <vt:lpstr>Statistical Learning Techniques forCredit Loan Approval</vt:lpstr>
      <vt:lpstr>Techniques Used: Unsupervised and Supervised Learning</vt:lpstr>
      <vt:lpstr>Original Dataset</vt:lpstr>
      <vt:lpstr>Data Preprocessing Overview</vt:lpstr>
      <vt:lpstr>Unsupervized Analysis</vt:lpstr>
      <vt:lpstr>Pincipal Components Analysis</vt:lpstr>
      <vt:lpstr>Scree Plot</vt:lpstr>
      <vt:lpstr>PCA Biplot</vt:lpstr>
      <vt:lpstr>PCA Loadings</vt:lpstr>
      <vt:lpstr>Hierarchical Clustering</vt:lpstr>
      <vt:lpstr>Hierarchical Clustering</vt:lpstr>
      <vt:lpstr>Hierarchical Clustering</vt:lpstr>
      <vt:lpstr>t-SNE</vt:lpstr>
      <vt:lpstr>t-SNE Clustering</vt:lpstr>
      <vt:lpstr>t-SNE Silhouette Score</vt:lpstr>
      <vt:lpstr>UMAP</vt:lpstr>
      <vt:lpstr>Supervized Analysis</vt:lpstr>
      <vt:lpstr>Logistic Regression with Elastic Net Regularization</vt:lpstr>
      <vt:lpstr>Random Forest</vt:lpstr>
      <vt:lpstr>XGBoost</vt:lpstr>
      <vt:lpstr>Neural Network</vt:lpstr>
      <vt:lpstr>Conclusion</vt:lpstr>
      <vt:lpstr>Unsupervized Analysis</vt:lpstr>
      <vt:lpstr>Supervized Analysis</vt:lpstr>
      <vt:lpstr>Thank you for your attention!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Niccolo' Cibei</dc:creator>
  <cp:lastModifiedBy>Niccolo' Cibei</cp:lastModifiedBy>
  <cp:revision>3</cp:revision>
  <dcterms:created xsi:type="dcterms:W3CDTF">2025-01-23T09:23:24Z</dcterms:created>
  <dcterms:modified xsi:type="dcterms:W3CDTF">2025-01-27T13:30:07Z</dcterms:modified>
</cp:coreProperties>
</file>